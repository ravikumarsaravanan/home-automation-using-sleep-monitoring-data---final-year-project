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294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EDF28D-8C3B-4022-AC00-7D0404C781E0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3300" y="946150"/>
            <a:ext cx="3606800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AD91C2-9922-4608-8DC4-A9CCD5910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8432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AD91C2-9922-4608-8DC4-A9CCD59102C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4069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/13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/13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/13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/13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/13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772668"/>
            <a:ext cx="10692384" cy="60137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61849" y="1203452"/>
            <a:ext cx="5492750" cy="8785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33627" y="2135124"/>
            <a:ext cx="9119870" cy="4311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114683" y="6365529"/>
            <a:ext cx="339090" cy="1911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/13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7967" y="3012948"/>
            <a:ext cx="8296655" cy="135940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545336" y="3290315"/>
            <a:ext cx="7739380" cy="806450"/>
          </a:xfrm>
          <a:prstGeom prst="rect">
            <a:avLst/>
          </a:prstGeom>
          <a:ln w="10667">
            <a:solidFill>
              <a:srgbClr val="748C99"/>
            </a:solidFill>
          </a:ln>
        </p:spPr>
        <p:txBody>
          <a:bodyPr vert="horz" wrap="square" lIns="0" tIns="65405" rIns="0" bIns="0" rtlCol="0">
            <a:spAutoFit/>
          </a:bodyPr>
          <a:lstStyle/>
          <a:p>
            <a:pPr marL="2755265" marR="1043305" indent="-1697989">
              <a:lnSpc>
                <a:spcPct val="100000"/>
              </a:lnSpc>
              <a:spcBef>
                <a:spcPts val="515"/>
              </a:spcBef>
            </a:pPr>
            <a:r>
              <a:rPr sz="2100" b="1" spc="-10" dirty="0">
                <a:solidFill>
                  <a:srgbClr val="BF0000"/>
                </a:solidFill>
                <a:latin typeface="Palatino Linotype"/>
                <a:cs typeface="Palatino Linotype"/>
              </a:rPr>
              <a:t>IoT-</a:t>
            </a:r>
            <a:r>
              <a:rPr sz="2100" b="1" dirty="0">
                <a:solidFill>
                  <a:srgbClr val="BF0000"/>
                </a:solidFill>
                <a:latin typeface="Palatino Linotype"/>
                <a:cs typeface="Palatino Linotype"/>
              </a:rPr>
              <a:t>Powered</a:t>
            </a:r>
            <a:r>
              <a:rPr sz="2100" b="1" spc="-35" dirty="0">
                <a:solidFill>
                  <a:srgbClr val="BF0000"/>
                </a:solidFill>
                <a:latin typeface="Palatino Linotype"/>
                <a:cs typeface="Palatino Linotype"/>
              </a:rPr>
              <a:t> </a:t>
            </a:r>
            <a:r>
              <a:rPr sz="2100" b="1" dirty="0">
                <a:solidFill>
                  <a:srgbClr val="BF0000"/>
                </a:solidFill>
                <a:latin typeface="Palatino Linotype"/>
                <a:cs typeface="Palatino Linotype"/>
              </a:rPr>
              <a:t>Adaptive</a:t>
            </a:r>
            <a:r>
              <a:rPr sz="2100" b="1" spc="-15" dirty="0">
                <a:solidFill>
                  <a:srgbClr val="BF0000"/>
                </a:solidFill>
                <a:latin typeface="Palatino Linotype"/>
                <a:cs typeface="Palatino Linotype"/>
              </a:rPr>
              <a:t> </a:t>
            </a:r>
            <a:r>
              <a:rPr sz="2100" b="1" dirty="0">
                <a:solidFill>
                  <a:srgbClr val="BF0000"/>
                </a:solidFill>
                <a:latin typeface="Palatino Linotype"/>
                <a:cs typeface="Palatino Linotype"/>
              </a:rPr>
              <a:t>Sleep</a:t>
            </a:r>
            <a:r>
              <a:rPr sz="2100" b="1" spc="-50" dirty="0">
                <a:solidFill>
                  <a:srgbClr val="BF0000"/>
                </a:solidFill>
                <a:latin typeface="Palatino Linotype"/>
                <a:cs typeface="Palatino Linotype"/>
              </a:rPr>
              <a:t> </a:t>
            </a:r>
            <a:r>
              <a:rPr sz="2100" b="1" dirty="0">
                <a:solidFill>
                  <a:srgbClr val="BF0000"/>
                </a:solidFill>
                <a:latin typeface="Palatino Linotype"/>
                <a:cs typeface="Palatino Linotype"/>
              </a:rPr>
              <a:t>Environment</a:t>
            </a:r>
            <a:r>
              <a:rPr sz="2100" b="1" spc="-20" dirty="0">
                <a:solidFill>
                  <a:srgbClr val="BF0000"/>
                </a:solidFill>
                <a:latin typeface="Palatino Linotype"/>
                <a:cs typeface="Palatino Linotype"/>
              </a:rPr>
              <a:t> </a:t>
            </a:r>
            <a:r>
              <a:rPr sz="2100" b="1" spc="-25" dirty="0">
                <a:solidFill>
                  <a:srgbClr val="BF0000"/>
                </a:solidFill>
                <a:latin typeface="Palatino Linotype"/>
                <a:cs typeface="Palatino Linotype"/>
              </a:rPr>
              <a:t>for </a:t>
            </a:r>
            <a:r>
              <a:rPr sz="2100" b="1" dirty="0">
                <a:solidFill>
                  <a:srgbClr val="BF0000"/>
                </a:solidFill>
                <a:latin typeface="Palatino Linotype"/>
                <a:cs typeface="Palatino Linotype"/>
              </a:rPr>
              <a:t>Health</a:t>
            </a:r>
            <a:r>
              <a:rPr sz="2100" b="1" spc="-25" dirty="0">
                <a:solidFill>
                  <a:srgbClr val="BF0000"/>
                </a:solidFill>
                <a:latin typeface="Palatino Linotype"/>
                <a:cs typeface="Palatino Linotype"/>
              </a:rPr>
              <a:t> </a:t>
            </a:r>
            <a:r>
              <a:rPr sz="2100" b="1" dirty="0">
                <a:solidFill>
                  <a:srgbClr val="BF0000"/>
                </a:solidFill>
                <a:latin typeface="Palatino Linotype"/>
                <a:cs typeface="Palatino Linotype"/>
              </a:rPr>
              <a:t>&amp;</a:t>
            </a:r>
            <a:r>
              <a:rPr sz="2100" b="1" spc="-25" dirty="0">
                <a:solidFill>
                  <a:srgbClr val="BF0000"/>
                </a:solidFill>
                <a:latin typeface="Palatino Linotype"/>
                <a:cs typeface="Palatino Linotype"/>
              </a:rPr>
              <a:t> </a:t>
            </a:r>
            <a:r>
              <a:rPr sz="2100" b="1" spc="-10" dirty="0">
                <a:solidFill>
                  <a:srgbClr val="BF0000"/>
                </a:solidFill>
                <a:latin typeface="Palatino Linotype"/>
                <a:cs typeface="Palatino Linotype"/>
              </a:rPr>
              <a:t>Wellness</a:t>
            </a:r>
            <a:endParaRPr sz="2100">
              <a:latin typeface="Palatino Linotype"/>
              <a:cs typeface="Palatino Linotype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856949" y="826951"/>
            <a:ext cx="549275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E.G.S.</a:t>
            </a:r>
            <a:r>
              <a:rPr spc="-55" dirty="0"/>
              <a:t> </a:t>
            </a:r>
            <a:r>
              <a:rPr dirty="0"/>
              <a:t>Pillay</a:t>
            </a:r>
            <a:r>
              <a:rPr spc="-15" dirty="0"/>
              <a:t> </a:t>
            </a:r>
            <a:r>
              <a:rPr dirty="0"/>
              <a:t>Engineering</a:t>
            </a:r>
            <a:r>
              <a:rPr spc="-40" dirty="0"/>
              <a:t> </a:t>
            </a:r>
            <a:r>
              <a:rPr spc="-10" dirty="0"/>
              <a:t>College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890790" y="1284800"/>
            <a:ext cx="7531100" cy="7753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77825">
              <a:lnSpc>
                <a:spcPct val="142600"/>
              </a:lnSpc>
              <a:spcBef>
                <a:spcPts val="95"/>
              </a:spcBef>
            </a:pPr>
            <a:r>
              <a:rPr sz="1150" spc="110" dirty="0">
                <a:latin typeface="Cambria"/>
                <a:cs typeface="Cambria"/>
              </a:rPr>
              <a:t>An</a:t>
            </a:r>
            <a:r>
              <a:rPr sz="1150" spc="135" dirty="0">
                <a:latin typeface="Cambria"/>
                <a:cs typeface="Cambria"/>
              </a:rPr>
              <a:t> </a:t>
            </a:r>
            <a:r>
              <a:rPr sz="1150" spc="10" dirty="0">
                <a:latin typeface="Cambria"/>
                <a:cs typeface="Cambria"/>
              </a:rPr>
              <a:t>Autonomous</a:t>
            </a:r>
            <a:r>
              <a:rPr sz="1150" spc="180" dirty="0">
                <a:latin typeface="Cambria"/>
                <a:cs typeface="Cambria"/>
              </a:rPr>
              <a:t> </a:t>
            </a:r>
            <a:r>
              <a:rPr sz="1150" spc="10" dirty="0">
                <a:latin typeface="Cambria"/>
                <a:cs typeface="Cambria"/>
              </a:rPr>
              <a:t>Institution</a:t>
            </a:r>
            <a:r>
              <a:rPr sz="1150" spc="165" dirty="0">
                <a:latin typeface="Cambria"/>
                <a:cs typeface="Cambria"/>
              </a:rPr>
              <a:t> </a:t>
            </a:r>
            <a:r>
              <a:rPr sz="1150" spc="10" dirty="0">
                <a:latin typeface="Cambria"/>
                <a:cs typeface="Cambria"/>
              </a:rPr>
              <a:t>Affiliated</a:t>
            </a:r>
            <a:r>
              <a:rPr sz="1150" spc="155" dirty="0">
                <a:latin typeface="Cambria"/>
                <a:cs typeface="Cambria"/>
              </a:rPr>
              <a:t> </a:t>
            </a:r>
            <a:r>
              <a:rPr sz="1150" spc="10" dirty="0">
                <a:latin typeface="Cambria"/>
                <a:cs typeface="Cambria"/>
              </a:rPr>
              <a:t>to</a:t>
            </a:r>
            <a:r>
              <a:rPr sz="1150" spc="130" dirty="0">
                <a:latin typeface="Cambria"/>
                <a:cs typeface="Cambria"/>
              </a:rPr>
              <a:t> </a:t>
            </a:r>
            <a:r>
              <a:rPr sz="1150" spc="65" dirty="0">
                <a:latin typeface="Cambria"/>
                <a:cs typeface="Cambria"/>
              </a:rPr>
              <a:t>Anna</a:t>
            </a:r>
            <a:r>
              <a:rPr sz="1150" spc="155" dirty="0">
                <a:latin typeface="Cambria"/>
                <a:cs typeface="Cambria"/>
              </a:rPr>
              <a:t> </a:t>
            </a:r>
            <a:r>
              <a:rPr sz="1150" spc="10" dirty="0">
                <a:latin typeface="Cambria"/>
                <a:cs typeface="Cambria"/>
              </a:rPr>
              <a:t>University,</a:t>
            </a:r>
            <a:r>
              <a:rPr sz="1150" spc="155" dirty="0">
                <a:latin typeface="Cambria"/>
                <a:cs typeface="Cambria"/>
              </a:rPr>
              <a:t> </a:t>
            </a:r>
            <a:r>
              <a:rPr sz="1150" spc="10" dirty="0">
                <a:latin typeface="Cambria"/>
                <a:cs typeface="Cambria"/>
              </a:rPr>
              <a:t>Chennai</a:t>
            </a:r>
            <a:r>
              <a:rPr sz="1150" spc="180" dirty="0">
                <a:latin typeface="Cambria"/>
                <a:cs typeface="Cambria"/>
              </a:rPr>
              <a:t> </a:t>
            </a:r>
            <a:r>
              <a:rPr sz="1150" spc="340" dirty="0">
                <a:latin typeface="Cambria"/>
                <a:cs typeface="Cambria"/>
              </a:rPr>
              <a:t>|</a:t>
            </a:r>
            <a:r>
              <a:rPr sz="1150" spc="105" dirty="0">
                <a:latin typeface="Cambria"/>
                <a:cs typeface="Cambria"/>
              </a:rPr>
              <a:t> </a:t>
            </a:r>
            <a:r>
              <a:rPr sz="1150" spc="50" dirty="0">
                <a:latin typeface="Cambria"/>
                <a:cs typeface="Cambria"/>
              </a:rPr>
              <a:t>Approved</a:t>
            </a:r>
            <a:r>
              <a:rPr sz="1150" spc="165" dirty="0">
                <a:latin typeface="Cambria"/>
                <a:cs typeface="Cambria"/>
              </a:rPr>
              <a:t> </a:t>
            </a:r>
            <a:r>
              <a:rPr sz="1150" spc="10" dirty="0">
                <a:latin typeface="Cambria"/>
                <a:cs typeface="Cambria"/>
              </a:rPr>
              <a:t>by</a:t>
            </a:r>
            <a:r>
              <a:rPr sz="1150" spc="120" dirty="0">
                <a:latin typeface="Cambria"/>
                <a:cs typeface="Cambria"/>
              </a:rPr>
              <a:t> </a:t>
            </a:r>
            <a:r>
              <a:rPr sz="1150" spc="75" dirty="0">
                <a:latin typeface="Cambria"/>
                <a:cs typeface="Cambria"/>
              </a:rPr>
              <a:t>AICTE,</a:t>
            </a:r>
            <a:r>
              <a:rPr sz="1150" spc="155" dirty="0">
                <a:latin typeface="Cambria"/>
                <a:cs typeface="Cambria"/>
              </a:rPr>
              <a:t> </a:t>
            </a:r>
            <a:r>
              <a:rPr sz="1150" spc="75" dirty="0">
                <a:latin typeface="Cambria"/>
                <a:cs typeface="Cambria"/>
              </a:rPr>
              <a:t>New</a:t>
            </a:r>
            <a:r>
              <a:rPr sz="1150" spc="135" dirty="0">
                <a:latin typeface="Cambria"/>
                <a:cs typeface="Cambria"/>
              </a:rPr>
              <a:t> </a:t>
            </a:r>
            <a:r>
              <a:rPr sz="1150" spc="-10" dirty="0">
                <a:latin typeface="Cambria"/>
                <a:cs typeface="Cambria"/>
              </a:rPr>
              <a:t>Delhi </a:t>
            </a:r>
            <a:r>
              <a:rPr sz="1150" dirty="0">
                <a:latin typeface="Cambria"/>
                <a:cs typeface="Cambria"/>
              </a:rPr>
              <a:t>Accredited</a:t>
            </a:r>
            <a:r>
              <a:rPr sz="1150" spc="155" dirty="0">
                <a:latin typeface="Cambria"/>
                <a:cs typeface="Cambria"/>
              </a:rPr>
              <a:t> </a:t>
            </a:r>
            <a:r>
              <a:rPr sz="1150" dirty="0">
                <a:latin typeface="Cambria"/>
                <a:cs typeface="Cambria"/>
              </a:rPr>
              <a:t>by</a:t>
            </a:r>
            <a:r>
              <a:rPr sz="1150" spc="95" dirty="0">
                <a:latin typeface="Cambria"/>
                <a:cs typeface="Cambria"/>
              </a:rPr>
              <a:t> </a:t>
            </a:r>
            <a:r>
              <a:rPr sz="1150" spc="180" dirty="0">
                <a:latin typeface="Cambria"/>
                <a:cs typeface="Cambria"/>
              </a:rPr>
              <a:t>NAAC</a:t>
            </a:r>
            <a:r>
              <a:rPr sz="1150" spc="120" dirty="0">
                <a:latin typeface="Cambria"/>
                <a:cs typeface="Cambria"/>
              </a:rPr>
              <a:t> </a:t>
            </a:r>
            <a:r>
              <a:rPr sz="1150" dirty="0">
                <a:latin typeface="Cambria"/>
                <a:cs typeface="Cambria"/>
              </a:rPr>
              <a:t>with</a:t>
            </a:r>
            <a:r>
              <a:rPr sz="1150" spc="125" dirty="0">
                <a:latin typeface="Cambria"/>
                <a:cs typeface="Cambria"/>
              </a:rPr>
              <a:t> </a:t>
            </a:r>
            <a:r>
              <a:rPr sz="1150" spc="105" dirty="0">
                <a:latin typeface="Cambria"/>
                <a:cs typeface="Cambria"/>
              </a:rPr>
              <a:t>A++</a:t>
            </a:r>
            <a:r>
              <a:rPr sz="1150" spc="75" dirty="0">
                <a:latin typeface="Cambria"/>
                <a:cs typeface="Cambria"/>
              </a:rPr>
              <a:t> </a:t>
            </a:r>
            <a:r>
              <a:rPr sz="1150" dirty="0">
                <a:latin typeface="Cambria"/>
                <a:cs typeface="Cambria"/>
              </a:rPr>
              <a:t>Grade</a:t>
            </a:r>
            <a:r>
              <a:rPr sz="1150" spc="130" dirty="0">
                <a:latin typeface="Cambria"/>
                <a:cs typeface="Cambria"/>
              </a:rPr>
              <a:t> </a:t>
            </a:r>
            <a:r>
              <a:rPr sz="1150" spc="340" dirty="0">
                <a:latin typeface="Cambria"/>
                <a:cs typeface="Cambria"/>
              </a:rPr>
              <a:t>|</a:t>
            </a:r>
            <a:r>
              <a:rPr sz="1150" spc="110" dirty="0">
                <a:latin typeface="Cambria"/>
                <a:cs typeface="Cambria"/>
              </a:rPr>
              <a:t> </a:t>
            </a:r>
            <a:r>
              <a:rPr sz="1150" dirty="0">
                <a:latin typeface="Cambria"/>
                <a:cs typeface="Cambria"/>
              </a:rPr>
              <a:t>Accredited</a:t>
            </a:r>
            <a:r>
              <a:rPr sz="1150" spc="175" dirty="0">
                <a:latin typeface="Cambria"/>
                <a:cs typeface="Cambria"/>
              </a:rPr>
              <a:t> </a:t>
            </a:r>
            <a:r>
              <a:rPr sz="1150" dirty="0">
                <a:latin typeface="Cambria"/>
                <a:cs typeface="Cambria"/>
              </a:rPr>
              <a:t>by</a:t>
            </a:r>
            <a:r>
              <a:rPr sz="1150" spc="95" dirty="0">
                <a:latin typeface="Cambria"/>
                <a:cs typeface="Cambria"/>
              </a:rPr>
              <a:t> </a:t>
            </a:r>
            <a:r>
              <a:rPr sz="1150" spc="125" dirty="0">
                <a:latin typeface="Cambria"/>
                <a:cs typeface="Cambria"/>
              </a:rPr>
              <a:t>NBA</a:t>
            </a:r>
            <a:r>
              <a:rPr sz="1150" spc="105" dirty="0">
                <a:latin typeface="Cambria"/>
                <a:cs typeface="Cambria"/>
              </a:rPr>
              <a:t> </a:t>
            </a:r>
            <a:r>
              <a:rPr sz="1150" dirty="0">
                <a:latin typeface="Cambria"/>
                <a:cs typeface="Cambria"/>
              </a:rPr>
              <a:t>T1</a:t>
            </a:r>
            <a:r>
              <a:rPr sz="1150" spc="130" dirty="0">
                <a:latin typeface="Cambria"/>
                <a:cs typeface="Cambria"/>
              </a:rPr>
              <a:t> </a:t>
            </a:r>
            <a:r>
              <a:rPr sz="1150" dirty="0">
                <a:latin typeface="Cambria"/>
                <a:cs typeface="Cambria"/>
              </a:rPr>
              <a:t>(B.E.</a:t>
            </a:r>
            <a:r>
              <a:rPr sz="1150" spc="145" dirty="0">
                <a:latin typeface="Cambria"/>
                <a:cs typeface="Cambria"/>
              </a:rPr>
              <a:t> </a:t>
            </a:r>
            <a:r>
              <a:rPr sz="1150" dirty="0">
                <a:latin typeface="Cambria"/>
                <a:cs typeface="Cambria"/>
              </a:rPr>
              <a:t>–</a:t>
            </a:r>
            <a:r>
              <a:rPr sz="1150" spc="100" dirty="0">
                <a:latin typeface="Cambria"/>
                <a:cs typeface="Cambria"/>
              </a:rPr>
              <a:t> </a:t>
            </a:r>
            <a:r>
              <a:rPr sz="1150" spc="85" dirty="0">
                <a:latin typeface="Cambria"/>
                <a:cs typeface="Cambria"/>
              </a:rPr>
              <a:t>CIVIL,MECH,EEE,CSE,ECE</a:t>
            </a:r>
            <a:r>
              <a:rPr sz="1150" spc="160" dirty="0">
                <a:latin typeface="Cambria"/>
                <a:cs typeface="Cambria"/>
              </a:rPr>
              <a:t> </a:t>
            </a:r>
            <a:r>
              <a:rPr sz="1150" spc="110" dirty="0">
                <a:latin typeface="Cambria"/>
                <a:cs typeface="Cambria"/>
              </a:rPr>
              <a:t>&amp;</a:t>
            </a:r>
            <a:r>
              <a:rPr sz="1150" spc="105" dirty="0">
                <a:latin typeface="Cambria"/>
                <a:cs typeface="Cambria"/>
              </a:rPr>
              <a:t> </a:t>
            </a:r>
            <a:r>
              <a:rPr sz="1150" dirty="0">
                <a:latin typeface="Cambria"/>
                <a:cs typeface="Cambria"/>
              </a:rPr>
              <a:t>B.Tech</a:t>
            </a:r>
            <a:r>
              <a:rPr sz="1150" spc="155" dirty="0">
                <a:latin typeface="Cambria"/>
                <a:cs typeface="Cambria"/>
              </a:rPr>
              <a:t> </a:t>
            </a:r>
            <a:r>
              <a:rPr sz="1150" dirty="0">
                <a:latin typeface="Cambria"/>
                <a:cs typeface="Cambria"/>
              </a:rPr>
              <a:t>–</a:t>
            </a:r>
            <a:r>
              <a:rPr sz="1150" spc="100" dirty="0">
                <a:latin typeface="Cambria"/>
                <a:cs typeface="Cambria"/>
              </a:rPr>
              <a:t> </a:t>
            </a:r>
            <a:r>
              <a:rPr sz="1150" spc="-25" dirty="0">
                <a:latin typeface="Cambria"/>
                <a:cs typeface="Cambria"/>
              </a:rPr>
              <a:t>IT)</a:t>
            </a:r>
            <a:endParaRPr sz="11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590"/>
              </a:spcBef>
            </a:pPr>
            <a:r>
              <a:rPr sz="1150" spc="80" dirty="0">
                <a:latin typeface="Cambria"/>
                <a:cs typeface="Cambria"/>
              </a:rPr>
              <a:t>Old</a:t>
            </a:r>
            <a:r>
              <a:rPr sz="1150" spc="220" dirty="0">
                <a:latin typeface="Cambria"/>
                <a:cs typeface="Cambria"/>
              </a:rPr>
              <a:t> </a:t>
            </a:r>
            <a:r>
              <a:rPr sz="1150" dirty="0">
                <a:latin typeface="Cambria"/>
                <a:cs typeface="Cambria"/>
              </a:rPr>
              <a:t>Nagore</a:t>
            </a:r>
            <a:r>
              <a:rPr sz="1150" spc="210" dirty="0">
                <a:latin typeface="Cambria"/>
                <a:cs typeface="Cambria"/>
              </a:rPr>
              <a:t> </a:t>
            </a:r>
            <a:r>
              <a:rPr sz="1150" dirty="0">
                <a:latin typeface="Cambria"/>
                <a:cs typeface="Cambria"/>
              </a:rPr>
              <a:t>Road,</a:t>
            </a:r>
            <a:r>
              <a:rPr sz="1150" spc="185" dirty="0">
                <a:latin typeface="Cambria"/>
                <a:cs typeface="Cambria"/>
              </a:rPr>
              <a:t> </a:t>
            </a:r>
            <a:r>
              <a:rPr sz="1150" dirty="0">
                <a:latin typeface="Cambria"/>
                <a:cs typeface="Cambria"/>
              </a:rPr>
              <a:t>Thethi,</a:t>
            </a:r>
            <a:r>
              <a:rPr sz="1150" spc="254" dirty="0">
                <a:latin typeface="Cambria"/>
                <a:cs typeface="Cambria"/>
              </a:rPr>
              <a:t> </a:t>
            </a:r>
            <a:r>
              <a:rPr sz="1150" dirty="0">
                <a:latin typeface="Cambria"/>
                <a:cs typeface="Cambria"/>
              </a:rPr>
              <a:t>Nagore</a:t>
            </a:r>
            <a:r>
              <a:rPr sz="1150" spc="185" dirty="0">
                <a:latin typeface="Cambria"/>
                <a:cs typeface="Cambria"/>
              </a:rPr>
              <a:t> </a:t>
            </a:r>
            <a:r>
              <a:rPr sz="1150" dirty="0">
                <a:latin typeface="Cambria"/>
                <a:cs typeface="Cambria"/>
              </a:rPr>
              <a:t>Village,</a:t>
            </a:r>
            <a:r>
              <a:rPr sz="1150" spc="200" dirty="0">
                <a:latin typeface="Cambria"/>
                <a:cs typeface="Cambria"/>
              </a:rPr>
              <a:t> </a:t>
            </a:r>
            <a:r>
              <a:rPr sz="1150" dirty="0">
                <a:latin typeface="Cambria"/>
                <a:cs typeface="Cambria"/>
              </a:rPr>
              <a:t>Nagapattinam</a:t>
            </a:r>
            <a:r>
              <a:rPr sz="1150" spc="200" dirty="0">
                <a:latin typeface="Cambria"/>
                <a:cs typeface="Cambria"/>
              </a:rPr>
              <a:t> </a:t>
            </a:r>
            <a:r>
              <a:rPr sz="1150" dirty="0">
                <a:latin typeface="Cambria"/>
                <a:cs typeface="Cambria"/>
              </a:rPr>
              <a:t>–</a:t>
            </a:r>
            <a:r>
              <a:rPr sz="1150" spc="185" dirty="0">
                <a:latin typeface="Cambria"/>
                <a:cs typeface="Cambria"/>
              </a:rPr>
              <a:t> </a:t>
            </a:r>
            <a:r>
              <a:rPr sz="1150" spc="-30" dirty="0">
                <a:latin typeface="Cambria"/>
                <a:cs typeface="Cambria"/>
              </a:rPr>
              <a:t>611002,</a:t>
            </a:r>
            <a:r>
              <a:rPr sz="1150" spc="170" dirty="0">
                <a:latin typeface="Cambria"/>
                <a:cs typeface="Cambria"/>
              </a:rPr>
              <a:t> </a:t>
            </a:r>
            <a:r>
              <a:rPr sz="1150" dirty="0">
                <a:latin typeface="Cambria"/>
                <a:cs typeface="Cambria"/>
              </a:rPr>
              <a:t>Tamil</a:t>
            </a:r>
            <a:r>
              <a:rPr sz="1150" spc="204" dirty="0">
                <a:latin typeface="Cambria"/>
                <a:cs typeface="Cambria"/>
              </a:rPr>
              <a:t> </a:t>
            </a:r>
            <a:r>
              <a:rPr sz="1150" spc="75" dirty="0">
                <a:latin typeface="Cambria"/>
                <a:cs typeface="Cambria"/>
              </a:rPr>
              <a:t>Nadu,</a:t>
            </a:r>
            <a:r>
              <a:rPr sz="1150" spc="185" dirty="0">
                <a:latin typeface="Cambria"/>
                <a:cs typeface="Cambria"/>
              </a:rPr>
              <a:t> </a:t>
            </a:r>
            <a:r>
              <a:rPr sz="1150" spc="-10" dirty="0">
                <a:latin typeface="Cambria"/>
                <a:cs typeface="Cambria"/>
              </a:rPr>
              <a:t>India</a:t>
            </a:r>
            <a:endParaRPr sz="1150">
              <a:latin typeface="Cambria"/>
              <a:cs typeface="Cambri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44167" y="4829555"/>
            <a:ext cx="8265159" cy="1618615"/>
          </a:xfrm>
          <a:custGeom>
            <a:avLst/>
            <a:gdLst/>
            <a:ahLst/>
            <a:cxnLst/>
            <a:rect l="l" t="t" r="r" b="b"/>
            <a:pathLst>
              <a:path w="8265159" h="1618614">
                <a:moveTo>
                  <a:pt x="0" y="269748"/>
                </a:moveTo>
                <a:lnTo>
                  <a:pt x="4333" y="221161"/>
                </a:lnTo>
                <a:lnTo>
                  <a:pt x="16832" y="175473"/>
                </a:lnTo>
                <a:lnTo>
                  <a:pt x="36745" y="133434"/>
                </a:lnTo>
                <a:lnTo>
                  <a:pt x="63318" y="95798"/>
                </a:lnTo>
                <a:lnTo>
                  <a:pt x="95798" y="63318"/>
                </a:lnTo>
                <a:lnTo>
                  <a:pt x="133434" y="36745"/>
                </a:lnTo>
                <a:lnTo>
                  <a:pt x="175473" y="16832"/>
                </a:lnTo>
                <a:lnTo>
                  <a:pt x="221161" y="4333"/>
                </a:lnTo>
                <a:lnTo>
                  <a:pt x="269748" y="0"/>
                </a:lnTo>
                <a:lnTo>
                  <a:pt x="7994903" y="0"/>
                </a:lnTo>
                <a:lnTo>
                  <a:pt x="8043088" y="4333"/>
                </a:lnTo>
                <a:lnTo>
                  <a:pt x="8088564" y="16832"/>
                </a:lnTo>
                <a:lnTo>
                  <a:pt x="8130539" y="36745"/>
                </a:lnTo>
                <a:lnTo>
                  <a:pt x="8168226" y="63318"/>
                </a:lnTo>
                <a:lnTo>
                  <a:pt x="8200832" y="95798"/>
                </a:lnTo>
                <a:lnTo>
                  <a:pt x="8227567" y="133434"/>
                </a:lnTo>
                <a:lnTo>
                  <a:pt x="8247643" y="175473"/>
                </a:lnTo>
                <a:lnTo>
                  <a:pt x="8260268" y="221161"/>
                </a:lnTo>
                <a:lnTo>
                  <a:pt x="8264651" y="269748"/>
                </a:lnTo>
                <a:lnTo>
                  <a:pt x="8264651" y="1348739"/>
                </a:lnTo>
                <a:lnTo>
                  <a:pt x="8260268" y="1396924"/>
                </a:lnTo>
                <a:lnTo>
                  <a:pt x="8247643" y="1442400"/>
                </a:lnTo>
                <a:lnTo>
                  <a:pt x="8227567" y="1484376"/>
                </a:lnTo>
                <a:lnTo>
                  <a:pt x="8200832" y="1522062"/>
                </a:lnTo>
                <a:lnTo>
                  <a:pt x="8168226" y="1554668"/>
                </a:lnTo>
                <a:lnTo>
                  <a:pt x="8130539" y="1581404"/>
                </a:lnTo>
                <a:lnTo>
                  <a:pt x="8088564" y="1601479"/>
                </a:lnTo>
                <a:lnTo>
                  <a:pt x="8043088" y="1614104"/>
                </a:lnTo>
                <a:lnTo>
                  <a:pt x="7994903" y="1618488"/>
                </a:lnTo>
                <a:lnTo>
                  <a:pt x="269748" y="1618488"/>
                </a:lnTo>
                <a:lnTo>
                  <a:pt x="221161" y="1614104"/>
                </a:lnTo>
                <a:lnTo>
                  <a:pt x="175473" y="1601479"/>
                </a:lnTo>
                <a:lnTo>
                  <a:pt x="133434" y="1581404"/>
                </a:lnTo>
                <a:lnTo>
                  <a:pt x="95798" y="1554668"/>
                </a:lnTo>
                <a:lnTo>
                  <a:pt x="63318" y="1522062"/>
                </a:lnTo>
                <a:lnTo>
                  <a:pt x="36745" y="1484376"/>
                </a:lnTo>
                <a:lnTo>
                  <a:pt x="16832" y="1442400"/>
                </a:lnTo>
                <a:lnTo>
                  <a:pt x="4333" y="1396924"/>
                </a:lnTo>
                <a:lnTo>
                  <a:pt x="0" y="1348739"/>
                </a:lnTo>
                <a:lnTo>
                  <a:pt x="0" y="269748"/>
                </a:lnTo>
                <a:close/>
              </a:path>
            </a:pathLst>
          </a:custGeom>
          <a:ln w="28956">
            <a:solidFill>
              <a:srgbClr val="EDFF4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9163" y="862584"/>
            <a:ext cx="928115" cy="108356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255990" y="4263651"/>
            <a:ext cx="2186940" cy="451484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474345" marR="5080" indent="-462280">
              <a:lnSpc>
                <a:spcPts val="1670"/>
              </a:lnSpc>
              <a:spcBef>
                <a:spcPts val="165"/>
              </a:spcBef>
            </a:pPr>
            <a:r>
              <a:rPr sz="1400" b="1" dirty="0">
                <a:solidFill>
                  <a:srgbClr val="BF0000"/>
                </a:solidFill>
                <a:latin typeface="Palatino Linotype"/>
                <a:cs typeface="Palatino Linotype"/>
              </a:rPr>
              <a:t>Date&amp;</a:t>
            </a:r>
            <a:r>
              <a:rPr sz="1400" b="1" spc="-15" dirty="0">
                <a:solidFill>
                  <a:srgbClr val="BF0000"/>
                </a:solidFill>
                <a:latin typeface="Palatino Linotype"/>
                <a:cs typeface="Palatino Linotype"/>
              </a:rPr>
              <a:t> </a:t>
            </a:r>
            <a:r>
              <a:rPr sz="1400" b="1" dirty="0">
                <a:solidFill>
                  <a:srgbClr val="BF0000"/>
                </a:solidFill>
                <a:latin typeface="Palatino Linotype"/>
                <a:cs typeface="Palatino Linotype"/>
              </a:rPr>
              <a:t>Session</a:t>
            </a:r>
            <a:r>
              <a:rPr sz="1400" b="1" spc="5" dirty="0">
                <a:solidFill>
                  <a:srgbClr val="BF0000"/>
                </a:solidFill>
                <a:latin typeface="Palatino Linotype"/>
                <a:cs typeface="Palatino Linotype"/>
              </a:rPr>
              <a:t> </a:t>
            </a:r>
            <a:r>
              <a:rPr sz="1400" b="1" dirty="0">
                <a:solidFill>
                  <a:srgbClr val="BF0000"/>
                </a:solidFill>
                <a:latin typeface="Palatino Linotype"/>
                <a:cs typeface="Palatino Linotype"/>
              </a:rPr>
              <a:t>:</a:t>
            </a:r>
            <a:r>
              <a:rPr sz="1400" b="1" spc="-5" dirty="0">
                <a:solidFill>
                  <a:srgbClr val="BF0000"/>
                </a:solidFill>
                <a:latin typeface="Palatino Linotype"/>
                <a:cs typeface="Palatino Linotype"/>
              </a:rPr>
              <a:t> </a:t>
            </a:r>
            <a:r>
              <a:rPr sz="1400" b="1" spc="-10" dirty="0">
                <a:solidFill>
                  <a:srgbClr val="BF0000"/>
                </a:solidFill>
                <a:latin typeface="Palatino Linotype"/>
                <a:cs typeface="Palatino Linotype"/>
              </a:rPr>
              <a:t>07/02/2026 </a:t>
            </a:r>
            <a:r>
              <a:rPr sz="1400" b="1" dirty="0">
                <a:solidFill>
                  <a:srgbClr val="BF0000"/>
                </a:solidFill>
                <a:latin typeface="Palatino Linotype"/>
                <a:cs typeface="Palatino Linotype"/>
              </a:rPr>
              <a:t>Venue:</a:t>
            </a:r>
            <a:r>
              <a:rPr sz="1400" b="1" spc="5" dirty="0">
                <a:solidFill>
                  <a:srgbClr val="BF0000"/>
                </a:solidFill>
                <a:latin typeface="Palatino Linotype"/>
                <a:cs typeface="Palatino Linotype"/>
              </a:rPr>
              <a:t> </a:t>
            </a:r>
            <a:r>
              <a:rPr sz="1400" b="1" dirty="0">
                <a:solidFill>
                  <a:srgbClr val="BF0000"/>
                </a:solidFill>
                <a:latin typeface="Palatino Linotype"/>
                <a:cs typeface="Palatino Linotype"/>
              </a:rPr>
              <a:t>SJB </a:t>
            </a:r>
            <a:r>
              <a:rPr sz="1400" b="1" spc="-25" dirty="0">
                <a:solidFill>
                  <a:srgbClr val="BF0000"/>
                </a:solidFill>
                <a:latin typeface="Palatino Linotype"/>
                <a:cs typeface="Palatino Linotype"/>
              </a:rPr>
              <a:t>314</a:t>
            </a:r>
            <a:endParaRPr sz="1400">
              <a:latin typeface="Palatino Linotype"/>
              <a:cs typeface="Palatino Linotyp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32632" y="2337816"/>
            <a:ext cx="3766185" cy="520065"/>
          </a:xfrm>
          <a:prstGeom prst="rect">
            <a:avLst/>
          </a:prstGeom>
          <a:ln w="10667">
            <a:solidFill>
              <a:srgbClr val="000000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328930">
              <a:lnSpc>
                <a:spcPct val="100000"/>
              </a:lnSpc>
              <a:spcBef>
                <a:spcPts val="470"/>
              </a:spcBef>
            </a:pPr>
            <a:r>
              <a:rPr sz="2350" dirty="0">
                <a:latin typeface="Cambria"/>
                <a:cs typeface="Cambria"/>
              </a:rPr>
              <a:t>Information</a:t>
            </a:r>
            <a:r>
              <a:rPr sz="2350" spc="270" dirty="0">
                <a:latin typeface="Cambria"/>
                <a:cs typeface="Cambria"/>
              </a:rPr>
              <a:t> </a:t>
            </a:r>
            <a:r>
              <a:rPr sz="2350" spc="-10" dirty="0">
                <a:latin typeface="Cambria"/>
                <a:cs typeface="Cambria"/>
              </a:rPr>
              <a:t>technology</a:t>
            </a:r>
            <a:endParaRPr sz="23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92514" y="4842967"/>
            <a:ext cx="3202940" cy="147510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1600" dirty="0">
                <a:solidFill>
                  <a:srgbClr val="BF0000"/>
                </a:solidFill>
                <a:latin typeface="Times New Roman"/>
                <a:cs typeface="Times New Roman"/>
              </a:rPr>
              <a:t>Under</a:t>
            </a:r>
            <a:r>
              <a:rPr sz="1600" spc="8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BF0000"/>
                </a:solidFill>
                <a:latin typeface="Times New Roman"/>
                <a:cs typeface="Times New Roman"/>
              </a:rPr>
              <a:t>the</a:t>
            </a:r>
            <a:r>
              <a:rPr sz="1600" spc="6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BF0000"/>
                </a:solidFill>
                <a:latin typeface="Times New Roman"/>
                <a:cs typeface="Times New Roman"/>
              </a:rPr>
              <a:t>Guidance</a:t>
            </a:r>
            <a:r>
              <a:rPr sz="1600" spc="114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BF0000"/>
                </a:solidFill>
                <a:latin typeface="Times New Roman"/>
                <a:cs typeface="Times New Roman"/>
              </a:rPr>
              <a:t>of,</a:t>
            </a:r>
            <a:endParaRPr sz="1600">
              <a:latin typeface="Times New Roman"/>
              <a:cs typeface="Times New Roman"/>
            </a:endParaRPr>
          </a:p>
          <a:p>
            <a:pPr marL="12700" marR="5080">
              <a:lnSpc>
                <a:spcPct val="102499"/>
              </a:lnSpc>
              <a:spcBef>
                <a:spcPts val="780"/>
              </a:spcBef>
            </a:pPr>
            <a:r>
              <a:rPr sz="1600" b="1" dirty="0">
                <a:latin typeface="Palatino Linotype"/>
                <a:cs typeface="Palatino Linotype"/>
              </a:rPr>
              <a:t>Dr.R.Manivannan</a:t>
            </a:r>
            <a:r>
              <a:rPr sz="1600" b="1" spc="204" dirty="0">
                <a:latin typeface="Palatino Linotype"/>
                <a:cs typeface="Palatino Linotype"/>
              </a:rPr>
              <a:t> </a:t>
            </a:r>
            <a:r>
              <a:rPr sz="1600" b="1" dirty="0">
                <a:latin typeface="Palatino Linotype"/>
                <a:cs typeface="Palatino Linotype"/>
              </a:rPr>
              <a:t>M.Tech.,</a:t>
            </a:r>
            <a:r>
              <a:rPr sz="1600" b="1" spc="210" dirty="0">
                <a:latin typeface="Palatino Linotype"/>
                <a:cs typeface="Palatino Linotype"/>
              </a:rPr>
              <a:t> </a:t>
            </a:r>
            <a:r>
              <a:rPr sz="1600" b="1" spc="-20" dirty="0">
                <a:latin typeface="Palatino Linotype"/>
                <a:cs typeface="Palatino Linotype"/>
              </a:rPr>
              <a:t>PhD., </a:t>
            </a:r>
            <a:r>
              <a:rPr sz="1600" b="1" spc="-10" dirty="0">
                <a:latin typeface="Palatino Linotype"/>
                <a:cs typeface="Palatino Linotype"/>
              </a:rPr>
              <a:t>Professor,</a:t>
            </a:r>
            <a:endParaRPr sz="1600">
              <a:latin typeface="Palatino Linotype"/>
              <a:cs typeface="Palatino Linotype"/>
            </a:endParaRPr>
          </a:p>
          <a:p>
            <a:pPr marL="12700" marR="586740">
              <a:lnSpc>
                <a:spcPts val="1980"/>
              </a:lnSpc>
              <a:spcBef>
                <a:spcPts val="65"/>
              </a:spcBef>
            </a:pPr>
            <a:r>
              <a:rPr sz="1600" b="1" dirty="0">
                <a:latin typeface="Palatino Linotype"/>
                <a:cs typeface="Palatino Linotype"/>
              </a:rPr>
              <a:t>Department</a:t>
            </a:r>
            <a:r>
              <a:rPr sz="1600" b="1" spc="110" dirty="0">
                <a:latin typeface="Palatino Linotype"/>
                <a:cs typeface="Palatino Linotype"/>
              </a:rPr>
              <a:t> </a:t>
            </a:r>
            <a:r>
              <a:rPr sz="1600" b="1" dirty="0">
                <a:latin typeface="Palatino Linotype"/>
                <a:cs typeface="Palatino Linotype"/>
              </a:rPr>
              <a:t>of</a:t>
            </a:r>
            <a:r>
              <a:rPr sz="1600" b="1" spc="80" dirty="0">
                <a:latin typeface="Palatino Linotype"/>
                <a:cs typeface="Palatino Linotype"/>
              </a:rPr>
              <a:t> </a:t>
            </a:r>
            <a:r>
              <a:rPr sz="1600" b="1" spc="-10" dirty="0">
                <a:latin typeface="Palatino Linotype"/>
                <a:cs typeface="Palatino Linotype"/>
              </a:rPr>
              <a:t>Information Technology</a:t>
            </a:r>
            <a:endParaRPr sz="1600">
              <a:latin typeface="Palatino Linotype"/>
              <a:cs typeface="Palatino Linotyp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76463" y="4842967"/>
            <a:ext cx="3336290" cy="137477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ct val="136700"/>
              </a:lnSpc>
              <a:spcBef>
                <a:spcPts val="215"/>
              </a:spcBef>
            </a:pPr>
            <a:r>
              <a:rPr sz="1600" dirty="0">
                <a:solidFill>
                  <a:srgbClr val="BF0000"/>
                </a:solidFill>
                <a:latin typeface="Times New Roman"/>
                <a:cs typeface="Times New Roman"/>
              </a:rPr>
              <a:t>Presented</a:t>
            </a:r>
            <a:r>
              <a:rPr sz="1600" spc="9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BF0000"/>
                </a:solidFill>
                <a:latin typeface="Times New Roman"/>
                <a:cs typeface="Times New Roman"/>
              </a:rPr>
              <a:t>by, </a:t>
            </a:r>
            <a:r>
              <a:rPr sz="1600" b="1" spc="-10" dirty="0">
                <a:latin typeface="Palatino Linotype"/>
                <a:cs typeface="Palatino Linotype"/>
              </a:rPr>
              <a:t>S.KALAISELVAN(8208E23ITR052) S.RAVIKUMAR(8208E23ITR095) K.KARTHIPAN(8208E23ITR054)</a:t>
            </a:r>
            <a:endParaRPr sz="16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095993" y="1561338"/>
            <a:ext cx="1610995" cy="4886325"/>
            <a:chOff x="9095993" y="1561338"/>
            <a:chExt cx="1610995" cy="4886325"/>
          </a:xfrm>
        </p:grpSpPr>
        <p:sp>
          <p:nvSpPr>
            <p:cNvPr id="3" name="object 3"/>
            <p:cNvSpPr/>
            <p:nvPr/>
          </p:nvSpPr>
          <p:spPr>
            <a:xfrm>
              <a:off x="9110471" y="1575816"/>
              <a:ext cx="1582420" cy="4857115"/>
            </a:xfrm>
            <a:custGeom>
              <a:avLst/>
              <a:gdLst/>
              <a:ahLst/>
              <a:cxnLst/>
              <a:rect l="l" t="t" r="r" b="b"/>
              <a:pathLst>
                <a:path w="1582420" h="4857115">
                  <a:moveTo>
                    <a:pt x="1581912" y="4856988"/>
                  </a:moveTo>
                  <a:lnTo>
                    <a:pt x="1506405" y="4854265"/>
                  </a:lnTo>
                  <a:lnTo>
                    <a:pt x="1431807" y="4846180"/>
                  </a:lnTo>
                  <a:lnTo>
                    <a:pt x="1358198" y="4832854"/>
                  </a:lnTo>
                  <a:lnTo>
                    <a:pt x="1285657" y="4814410"/>
                  </a:lnTo>
                  <a:lnTo>
                    <a:pt x="1214264" y="4790969"/>
                  </a:lnTo>
                  <a:lnTo>
                    <a:pt x="1144098" y="4762654"/>
                  </a:lnTo>
                  <a:lnTo>
                    <a:pt x="1075239" y="4729588"/>
                  </a:lnTo>
                  <a:lnTo>
                    <a:pt x="1041324" y="4711311"/>
                  </a:lnTo>
                  <a:lnTo>
                    <a:pt x="1007766" y="4691892"/>
                  </a:lnTo>
                  <a:lnTo>
                    <a:pt x="974574" y="4671346"/>
                  </a:lnTo>
                  <a:lnTo>
                    <a:pt x="941759" y="4649689"/>
                  </a:lnTo>
                  <a:lnTo>
                    <a:pt x="909329" y="4626935"/>
                  </a:lnTo>
                  <a:lnTo>
                    <a:pt x="877296" y="4603100"/>
                  </a:lnTo>
                  <a:lnTo>
                    <a:pt x="845670" y="4578200"/>
                  </a:lnTo>
                  <a:lnTo>
                    <a:pt x="814459" y="4552249"/>
                  </a:lnTo>
                  <a:lnTo>
                    <a:pt x="783674" y="4525264"/>
                  </a:lnTo>
                  <a:lnTo>
                    <a:pt x="753325" y="4497258"/>
                  </a:lnTo>
                  <a:lnTo>
                    <a:pt x="723423" y="4468248"/>
                  </a:lnTo>
                  <a:lnTo>
                    <a:pt x="693976" y="4438248"/>
                  </a:lnTo>
                  <a:lnTo>
                    <a:pt x="664995" y="4407275"/>
                  </a:lnTo>
                  <a:lnTo>
                    <a:pt x="636489" y="4375343"/>
                  </a:lnTo>
                  <a:lnTo>
                    <a:pt x="608469" y="4342467"/>
                  </a:lnTo>
                  <a:lnTo>
                    <a:pt x="580945" y="4308663"/>
                  </a:lnTo>
                  <a:lnTo>
                    <a:pt x="553927" y="4273947"/>
                  </a:lnTo>
                  <a:lnTo>
                    <a:pt x="527423" y="4238332"/>
                  </a:lnTo>
                  <a:lnTo>
                    <a:pt x="501446" y="4201836"/>
                  </a:lnTo>
                  <a:lnTo>
                    <a:pt x="476003" y="4164472"/>
                  </a:lnTo>
                  <a:lnTo>
                    <a:pt x="451106" y="4126257"/>
                  </a:lnTo>
                  <a:lnTo>
                    <a:pt x="426764" y="4087205"/>
                  </a:lnTo>
                  <a:lnTo>
                    <a:pt x="402988" y="4047332"/>
                  </a:lnTo>
                  <a:lnTo>
                    <a:pt x="379786" y="4006653"/>
                  </a:lnTo>
                  <a:lnTo>
                    <a:pt x="357169" y="3965184"/>
                  </a:lnTo>
                  <a:lnTo>
                    <a:pt x="335148" y="3922939"/>
                  </a:lnTo>
                  <a:lnTo>
                    <a:pt x="313731" y="3879934"/>
                  </a:lnTo>
                  <a:lnTo>
                    <a:pt x="292929" y="3836184"/>
                  </a:lnTo>
                  <a:lnTo>
                    <a:pt x="272752" y="3791705"/>
                  </a:lnTo>
                  <a:lnTo>
                    <a:pt x="253210" y="3746512"/>
                  </a:lnTo>
                  <a:lnTo>
                    <a:pt x="234312" y="3700620"/>
                  </a:lnTo>
                  <a:lnTo>
                    <a:pt x="216069" y="3654044"/>
                  </a:lnTo>
                  <a:lnTo>
                    <a:pt x="198490" y="3606799"/>
                  </a:lnTo>
                  <a:lnTo>
                    <a:pt x="181586" y="3558902"/>
                  </a:lnTo>
                  <a:lnTo>
                    <a:pt x="165366" y="3510367"/>
                  </a:lnTo>
                  <a:lnTo>
                    <a:pt x="149841" y="3461209"/>
                  </a:lnTo>
                  <a:lnTo>
                    <a:pt x="135020" y="3411444"/>
                  </a:lnTo>
                  <a:lnTo>
                    <a:pt x="120913" y="3361087"/>
                  </a:lnTo>
                  <a:lnTo>
                    <a:pt x="107530" y="3310153"/>
                  </a:lnTo>
                  <a:lnTo>
                    <a:pt x="94882" y="3258658"/>
                  </a:lnTo>
                  <a:lnTo>
                    <a:pt x="82977" y="3206617"/>
                  </a:lnTo>
                  <a:lnTo>
                    <a:pt x="71826" y="3154045"/>
                  </a:lnTo>
                  <a:lnTo>
                    <a:pt x="61439" y="3100957"/>
                  </a:lnTo>
                  <a:lnTo>
                    <a:pt x="51827" y="3047370"/>
                  </a:lnTo>
                  <a:lnTo>
                    <a:pt x="42997" y="2993297"/>
                  </a:lnTo>
                  <a:lnTo>
                    <a:pt x="34962" y="2938754"/>
                  </a:lnTo>
                  <a:lnTo>
                    <a:pt x="27730" y="2883757"/>
                  </a:lnTo>
                  <a:lnTo>
                    <a:pt x="21312" y="2828321"/>
                  </a:lnTo>
                  <a:lnTo>
                    <a:pt x="15717" y="2772461"/>
                  </a:lnTo>
                  <a:lnTo>
                    <a:pt x="10956" y="2716192"/>
                  </a:lnTo>
                  <a:lnTo>
                    <a:pt x="7038" y="2659531"/>
                  </a:lnTo>
                  <a:lnTo>
                    <a:pt x="3974" y="2602491"/>
                  </a:lnTo>
                  <a:lnTo>
                    <a:pt x="1772" y="2545088"/>
                  </a:lnTo>
                  <a:lnTo>
                    <a:pt x="444" y="2487338"/>
                  </a:lnTo>
                  <a:lnTo>
                    <a:pt x="0" y="2429256"/>
                  </a:lnTo>
                  <a:lnTo>
                    <a:pt x="444" y="2371108"/>
                  </a:lnTo>
                  <a:lnTo>
                    <a:pt x="1772" y="2313294"/>
                  </a:lnTo>
                  <a:lnTo>
                    <a:pt x="3974" y="2255830"/>
                  </a:lnTo>
                  <a:lnTo>
                    <a:pt x="7038" y="2198731"/>
                  </a:lnTo>
                  <a:lnTo>
                    <a:pt x="10956" y="2142011"/>
                  </a:lnTo>
                  <a:lnTo>
                    <a:pt x="15717" y="2085686"/>
                  </a:lnTo>
                  <a:lnTo>
                    <a:pt x="21312" y="2029772"/>
                  </a:lnTo>
                  <a:lnTo>
                    <a:pt x="27730" y="1974283"/>
                  </a:lnTo>
                  <a:lnTo>
                    <a:pt x="34962" y="1919235"/>
                  </a:lnTo>
                  <a:lnTo>
                    <a:pt x="42997" y="1864643"/>
                  </a:lnTo>
                  <a:lnTo>
                    <a:pt x="51827" y="1810523"/>
                  </a:lnTo>
                  <a:lnTo>
                    <a:pt x="61439" y="1756889"/>
                  </a:lnTo>
                  <a:lnTo>
                    <a:pt x="71826" y="1703757"/>
                  </a:lnTo>
                  <a:lnTo>
                    <a:pt x="82977" y="1651142"/>
                  </a:lnTo>
                  <a:lnTo>
                    <a:pt x="94882" y="1599059"/>
                  </a:lnTo>
                  <a:lnTo>
                    <a:pt x="107530" y="1547525"/>
                  </a:lnTo>
                  <a:lnTo>
                    <a:pt x="120913" y="1496552"/>
                  </a:lnTo>
                  <a:lnTo>
                    <a:pt x="135020" y="1446159"/>
                  </a:lnTo>
                  <a:lnTo>
                    <a:pt x="149841" y="1396358"/>
                  </a:lnTo>
                  <a:lnTo>
                    <a:pt x="165366" y="1347166"/>
                  </a:lnTo>
                  <a:lnTo>
                    <a:pt x="181586" y="1298598"/>
                  </a:lnTo>
                  <a:lnTo>
                    <a:pt x="198490" y="1250669"/>
                  </a:lnTo>
                  <a:lnTo>
                    <a:pt x="216069" y="1203395"/>
                  </a:lnTo>
                  <a:lnTo>
                    <a:pt x="234312" y="1156790"/>
                  </a:lnTo>
                  <a:lnTo>
                    <a:pt x="253210" y="1110870"/>
                  </a:lnTo>
                  <a:lnTo>
                    <a:pt x="272752" y="1065651"/>
                  </a:lnTo>
                  <a:lnTo>
                    <a:pt x="292929" y="1021146"/>
                  </a:lnTo>
                  <a:lnTo>
                    <a:pt x="313731" y="977373"/>
                  </a:lnTo>
                  <a:lnTo>
                    <a:pt x="335148" y="934345"/>
                  </a:lnTo>
                  <a:lnTo>
                    <a:pt x="357169" y="892078"/>
                  </a:lnTo>
                  <a:lnTo>
                    <a:pt x="379786" y="850588"/>
                  </a:lnTo>
                  <a:lnTo>
                    <a:pt x="402988" y="809890"/>
                  </a:lnTo>
                  <a:lnTo>
                    <a:pt x="426764" y="769998"/>
                  </a:lnTo>
                  <a:lnTo>
                    <a:pt x="451106" y="730929"/>
                  </a:lnTo>
                  <a:lnTo>
                    <a:pt x="476003" y="692697"/>
                  </a:lnTo>
                  <a:lnTo>
                    <a:pt x="501446" y="655318"/>
                  </a:lnTo>
                  <a:lnTo>
                    <a:pt x="527423" y="618807"/>
                  </a:lnTo>
                  <a:lnTo>
                    <a:pt x="553927" y="583179"/>
                  </a:lnTo>
                  <a:lnTo>
                    <a:pt x="580945" y="548449"/>
                  </a:lnTo>
                  <a:lnTo>
                    <a:pt x="608469" y="514633"/>
                  </a:lnTo>
                  <a:lnTo>
                    <a:pt x="636489" y="481746"/>
                  </a:lnTo>
                  <a:lnTo>
                    <a:pt x="664995" y="449804"/>
                  </a:lnTo>
                  <a:lnTo>
                    <a:pt x="693976" y="418820"/>
                  </a:lnTo>
                  <a:lnTo>
                    <a:pt x="723423" y="388812"/>
                  </a:lnTo>
                  <a:lnTo>
                    <a:pt x="753325" y="359793"/>
                  </a:lnTo>
                  <a:lnTo>
                    <a:pt x="783674" y="331780"/>
                  </a:lnTo>
                  <a:lnTo>
                    <a:pt x="814459" y="304787"/>
                  </a:lnTo>
                  <a:lnTo>
                    <a:pt x="845670" y="278830"/>
                  </a:lnTo>
                  <a:lnTo>
                    <a:pt x="877296" y="253924"/>
                  </a:lnTo>
                  <a:lnTo>
                    <a:pt x="909329" y="230084"/>
                  </a:lnTo>
                  <a:lnTo>
                    <a:pt x="941759" y="207326"/>
                  </a:lnTo>
                  <a:lnTo>
                    <a:pt x="974574" y="185664"/>
                  </a:lnTo>
                  <a:lnTo>
                    <a:pt x="1007766" y="165114"/>
                  </a:lnTo>
                  <a:lnTo>
                    <a:pt x="1041324" y="145692"/>
                  </a:lnTo>
                  <a:lnTo>
                    <a:pt x="1075239" y="127412"/>
                  </a:lnTo>
                  <a:lnTo>
                    <a:pt x="1109500" y="110290"/>
                  </a:lnTo>
                  <a:lnTo>
                    <a:pt x="1179023" y="79580"/>
                  </a:lnTo>
                  <a:lnTo>
                    <a:pt x="1249812" y="53684"/>
                  </a:lnTo>
                  <a:lnTo>
                    <a:pt x="1321789" y="32725"/>
                  </a:lnTo>
                  <a:lnTo>
                    <a:pt x="1394874" y="16823"/>
                  </a:lnTo>
                  <a:lnTo>
                    <a:pt x="1468987" y="6102"/>
                  </a:lnTo>
                  <a:lnTo>
                    <a:pt x="1544049" y="683"/>
                  </a:lnTo>
                  <a:lnTo>
                    <a:pt x="1581912" y="0"/>
                  </a:lnTo>
                  <a:lnTo>
                    <a:pt x="1581912" y="48569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10471" y="1575816"/>
              <a:ext cx="1582420" cy="4857115"/>
            </a:xfrm>
            <a:custGeom>
              <a:avLst/>
              <a:gdLst/>
              <a:ahLst/>
              <a:cxnLst/>
              <a:rect l="l" t="t" r="r" b="b"/>
              <a:pathLst>
                <a:path w="1582420" h="4857115">
                  <a:moveTo>
                    <a:pt x="1581912" y="4856988"/>
                  </a:moveTo>
                  <a:lnTo>
                    <a:pt x="1506405" y="4854265"/>
                  </a:lnTo>
                  <a:lnTo>
                    <a:pt x="1431807" y="4846180"/>
                  </a:lnTo>
                  <a:lnTo>
                    <a:pt x="1358198" y="4832854"/>
                  </a:lnTo>
                  <a:lnTo>
                    <a:pt x="1285657" y="4814410"/>
                  </a:lnTo>
                  <a:lnTo>
                    <a:pt x="1214264" y="4790969"/>
                  </a:lnTo>
                  <a:lnTo>
                    <a:pt x="1144098" y="4762654"/>
                  </a:lnTo>
                  <a:lnTo>
                    <a:pt x="1075239" y="4729588"/>
                  </a:lnTo>
                  <a:lnTo>
                    <a:pt x="1041324" y="4711311"/>
                  </a:lnTo>
                  <a:lnTo>
                    <a:pt x="1007766" y="4691892"/>
                  </a:lnTo>
                  <a:lnTo>
                    <a:pt x="974574" y="4671346"/>
                  </a:lnTo>
                  <a:lnTo>
                    <a:pt x="941759" y="4649689"/>
                  </a:lnTo>
                  <a:lnTo>
                    <a:pt x="909329" y="4626935"/>
                  </a:lnTo>
                  <a:lnTo>
                    <a:pt x="877296" y="4603100"/>
                  </a:lnTo>
                  <a:lnTo>
                    <a:pt x="845670" y="4578200"/>
                  </a:lnTo>
                  <a:lnTo>
                    <a:pt x="814459" y="4552249"/>
                  </a:lnTo>
                  <a:lnTo>
                    <a:pt x="783674" y="4525264"/>
                  </a:lnTo>
                  <a:lnTo>
                    <a:pt x="753325" y="4497258"/>
                  </a:lnTo>
                  <a:lnTo>
                    <a:pt x="723423" y="4468248"/>
                  </a:lnTo>
                  <a:lnTo>
                    <a:pt x="693976" y="4438248"/>
                  </a:lnTo>
                  <a:lnTo>
                    <a:pt x="664995" y="4407275"/>
                  </a:lnTo>
                  <a:lnTo>
                    <a:pt x="636489" y="4375343"/>
                  </a:lnTo>
                  <a:lnTo>
                    <a:pt x="608469" y="4342467"/>
                  </a:lnTo>
                  <a:lnTo>
                    <a:pt x="580945" y="4308663"/>
                  </a:lnTo>
                  <a:lnTo>
                    <a:pt x="553927" y="4273947"/>
                  </a:lnTo>
                  <a:lnTo>
                    <a:pt x="527423" y="4238332"/>
                  </a:lnTo>
                  <a:lnTo>
                    <a:pt x="501446" y="4201836"/>
                  </a:lnTo>
                  <a:lnTo>
                    <a:pt x="476003" y="4164472"/>
                  </a:lnTo>
                  <a:lnTo>
                    <a:pt x="451106" y="4126257"/>
                  </a:lnTo>
                  <a:lnTo>
                    <a:pt x="426764" y="4087205"/>
                  </a:lnTo>
                  <a:lnTo>
                    <a:pt x="402988" y="4047332"/>
                  </a:lnTo>
                  <a:lnTo>
                    <a:pt x="379786" y="4006653"/>
                  </a:lnTo>
                  <a:lnTo>
                    <a:pt x="357169" y="3965184"/>
                  </a:lnTo>
                  <a:lnTo>
                    <a:pt x="335148" y="3922939"/>
                  </a:lnTo>
                  <a:lnTo>
                    <a:pt x="313731" y="3879934"/>
                  </a:lnTo>
                  <a:lnTo>
                    <a:pt x="292929" y="3836184"/>
                  </a:lnTo>
                  <a:lnTo>
                    <a:pt x="272752" y="3791705"/>
                  </a:lnTo>
                  <a:lnTo>
                    <a:pt x="253210" y="3746512"/>
                  </a:lnTo>
                  <a:lnTo>
                    <a:pt x="234312" y="3700620"/>
                  </a:lnTo>
                  <a:lnTo>
                    <a:pt x="216069" y="3654044"/>
                  </a:lnTo>
                  <a:lnTo>
                    <a:pt x="198490" y="3606799"/>
                  </a:lnTo>
                  <a:lnTo>
                    <a:pt x="181586" y="3558902"/>
                  </a:lnTo>
                  <a:lnTo>
                    <a:pt x="165366" y="3510367"/>
                  </a:lnTo>
                  <a:lnTo>
                    <a:pt x="149841" y="3461209"/>
                  </a:lnTo>
                  <a:lnTo>
                    <a:pt x="135020" y="3411444"/>
                  </a:lnTo>
                  <a:lnTo>
                    <a:pt x="120913" y="3361087"/>
                  </a:lnTo>
                  <a:lnTo>
                    <a:pt x="107530" y="3310153"/>
                  </a:lnTo>
                  <a:lnTo>
                    <a:pt x="94882" y="3258658"/>
                  </a:lnTo>
                  <a:lnTo>
                    <a:pt x="82977" y="3206617"/>
                  </a:lnTo>
                  <a:lnTo>
                    <a:pt x="71826" y="3154045"/>
                  </a:lnTo>
                  <a:lnTo>
                    <a:pt x="61439" y="3100957"/>
                  </a:lnTo>
                  <a:lnTo>
                    <a:pt x="51827" y="3047370"/>
                  </a:lnTo>
                  <a:lnTo>
                    <a:pt x="42997" y="2993297"/>
                  </a:lnTo>
                  <a:lnTo>
                    <a:pt x="34962" y="2938754"/>
                  </a:lnTo>
                  <a:lnTo>
                    <a:pt x="27730" y="2883757"/>
                  </a:lnTo>
                  <a:lnTo>
                    <a:pt x="21312" y="2828321"/>
                  </a:lnTo>
                  <a:lnTo>
                    <a:pt x="15717" y="2772461"/>
                  </a:lnTo>
                  <a:lnTo>
                    <a:pt x="10956" y="2716192"/>
                  </a:lnTo>
                  <a:lnTo>
                    <a:pt x="7038" y="2659531"/>
                  </a:lnTo>
                  <a:lnTo>
                    <a:pt x="3974" y="2602491"/>
                  </a:lnTo>
                  <a:lnTo>
                    <a:pt x="1772" y="2545088"/>
                  </a:lnTo>
                  <a:lnTo>
                    <a:pt x="444" y="2487338"/>
                  </a:lnTo>
                  <a:lnTo>
                    <a:pt x="0" y="2429256"/>
                  </a:lnTo>
                  <a:lnTo>
                    <a:pt x="444" y="2371108"/>
                  </a:lnTo>
                  <a:lnTo>
                    <a:pt x="1772" y="2313294"/>
                  </a:lnTo>
                  <a:lnTo>
                    <a:pt x="3974" y="2255830"/>
                  </a:lnTo>
                  <a:lnTo>
                    <a:pt x="7038" y="2198731"/>
                  </a:lnTo>
                  <a:lnTo>
                    <a:pt x="10956" y="2142011"/>
                  </a:lnTo>
                  <a:lnTo>
                    <a:pt x="15717" y="2085686"/>
                  </a:lnTo>
                  <a:lnTo>
                    <a:pt x="21312" y="2029772"/>
                  </a:lnTo>
                  <a:lnTo>
                    <a:pt x="27730" y="1974283"/>
                  </a:lnTo>
                  <a:lnTo>
                    <a:pt x="34962" y="1919235"/>
                  </a:lnTo>
                  <a:lnTo>
                    <a:pt x="42997" y="1864643"/>
                  </a:lnTo>
                  <a:lnTo>
                    <a:pt x="51827" y="1810523"/>
                  </a:lnTo>
                  <a:lnTo>
                    <a:pt x="61439" y="1756889"/>
                  </a:lnTo>
                  <a:lnTo>
                    <a:pt x="71826" y="1703757"/>
                  </a:lnTo>
                  <a:lnTo>
                    <a:pt x="82977" y="1651142"/>
                  </a:lnTo>
                  <a:lnTo>
                    <a:pt x="94882" y="1599059"/>
                  </a:lnTo>
                  <a:lnTo>
                    <a:pt x="107530" y="1547525"/>
                  </a:lnTo>
                  <a:lnTo>
                    <a:pt x="120913" y="1496552"/>
                  </a:lnTo>
                  <a:lnTo>
                    <a:pt x="135020" y="1446159"/>
                  </a:lnTo>
                  <a:lnTo>
                    <a:pt x="149841" y="1396358"/>
                  </a:lnTo>
                  <a:lnTo>
                    <a:pt x="165366" y="1347166"/>
                  </a:lnTo>
                  <a:lnTo>
                    <a:pt x="181586" y="1298598"/>
                  </a:lnTo>
                  <a:lnTo>
                    <a:pt x="198490" y="1250669"/>
                  </a:lnTo>
                  <a:lnTo>
                    <a:pt x="216069" y="1203395"/>
                  </a:lnTo>
                  <a:lnTo>
                    <a:pt x="234312" y="1156790"/>
                  </a:lnTo>
                  <a:lnTo>
                    <a:pt x="253210" y="1110870"/>
                  </a:lnTo>
                  <a:lnTo>
                    <a:pt x="272752" y="1065651"/>
                  </a:lnTo>
                  <a:lnTo>
                    <a:pt x="292929" y="1021146"/>
                  </a:lnTo>
                  <a:lnTo>
                    <a:pt x="313731" y="977373"/>
                  </a:lnTo>
                  <a:lnTo>
                    <a:pt x="335148" y="934345"/>
                  </a:lnTo>
                  <a:lnTo>
                    <a:pt x="357169" y="892078"/>
                  </a:lnTo>
                  <a:lnTo>
                    <a:pt x="379786" y="850588"/>
                  </a:lnTo>
                  <a:lnTo>
                    <a:pt x="402988" y="809890"/>
                  </a:lnTo>
                  <a:lnTo>
                    <a:pt x="426764" y="769998"/>
                  </a:lnTo>
                  <a:lnTo>
                    <a:pt x="451106" y="730929"/>
                  </a:lnTo>
                  <a:lnTo>
                    <a:pt x="476003" y="692697"/>
                  </a:lnTo>
                  <a:lnTo>
                    <a:pt x="501446" y="655318"/>
                  </a:lnTo>
                  <a:lnTo>
                    <a:pt x="527423" y="618807"/>
                  </a:lnTo>
                  <a:lnTo>
                    <a:pt x="553927" y="583179"/>
                  </a:lnTo>
                  <a:lnTo>
                    <a:pt x="580945" y="548449"/>
                  </a:lnTo>
                  <a:lnTo>
                    <a:pt x="608469" y="514633"/>
                  </a:lnTo>
                  <a:lnTo>
                    <a:pt x="636489" y="481746"/>
                  </a:lnTo>
                  <a:lnTo>
                    <a:pt x="664995" y="449804"/>
                  </a:lnTo>
                  <a:lnTo>
                    <a:pt x="693976" y="418820"/>
                  </a:lnTo>
                  <a:lnTo>
                    <a:pt x="723423" y="388812"/>
                  </a:lnTo>
                  <a:lnTo>
                    <a:pt x="753325" y="359793"/>
                  </a:lnTo>
                  <a:lnTo>
                    <a:pt x="783674" y="331780"/>
                  </a:lnTo>
                  <a:lnTo>
                    <a:pt x="814459" y="304787"/>
                  </a:lnTo>
                  <a:lnTo>
                    <a:pt x="845670" y="278830"/>
                  </a:lnTo>
                  <a:lnTo>
                    <a:pt x="877296" y="253924"/>
                  </a:lnTo>
                  <a:lnTo>
                    <a:pt x="909329" y="230084"/>
                  </a:lnTo>
                  <a:lnTo>
                    <a:pt x="941759" y="207326"/>
                  </a:lnTo>
                  <a:lnTo>
                    <a:pt x="974574" y="185664"/>
                  </a:lnTo>
                  <a:lnTo>
                    <a:pt x="1007766" y="165114"/>
                  </a:lnTo>
                  <a:lnTo>
                    <a:pt x="1041324" y="145692"/>
                  </a:lnTo>
                  <a:lnTo>
                    <a:pt x="1075239" y="127412"/>
                  </a:lnTo>
                  <a:lnTo>
                    <a:pt x="1109500" y="110290"/>
                  </a:lnTo>
                  <a:lnTo>
                    <a:pt x="1179023" y="79580"/>
                  </a:lnTo>
                  <a:lnTo>
                    <a:pt x="1249812" y="53684"/>
                  </a:lnTo>
                  <a:lnTo>
                    <a:pt x="1321789" y="32725"/>
                  </a:lnTo>
                  <a:lnTo>
                    <a:pt x="1394874" y="16823"/>
                  </a:lnTo>
                  <a:lnTo>
                    <a:pt x="1468987" y="6102"/>
                  </a:lnTo>
                  <a:lnTo>
                    <a:pt x="1544049" y="683"/>
                  </a:lnTo>
                  <a:lnTo>
                    <a:pt x="1581912" y="0"/>
                  </a:lnTo>
                </a:path>
              </a:pathLst>
            </a:custGeom>
            <a:ln w="28956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-14605" y="1637411"/>
            <a:ext cx="1611630" cy="4886325"/>
            <a:chOff x="-14605" y="1637411"/>
            <a:chExt cx="1611630" cy="4886325"/>
          </a:xfrm>
        </p:grpSpPr>
        <p:sp>
          <p:nvSpPr>
            <p:cNvPr id="6" name="object 6"/>
            <p:cNvSpPr/>
            <p:nvPr/>
          </p:nvSpPr>
          <p:spPr>
            <a:xfrm>
              <a:off x="0" y="1652016"/>
              <a:ext cx="1582420" cy="4857115"/>
            </a:xfrm>
            <a:custGeom>
              <a:avLst/>
              <a:gdLst/>
              <a:ahLst/>
              <a:cxnLst/>
              <a:rect l="l" t="t" r="r" b="b"/>
              <a:pathLst>
                <a:path w="1582420" h="4857115">
                  <a:moveTo>
                    <a:pt x="0" y="4856988"/>
                  </a:moveTo>
                  <a:lnTo>
                    <a:pt x="0" y="0"/>
                  </a:lnTo>
                  <a:lnTo>
                    <a:pt x="37926" y="683"/>
                  </a:lnTo>
                  <a:lnTo>
                    <a:pt x="113106" y="6102"/>
                  </a:lnTo>
                  <a:lnTo>
                    <a:pt x="187322" y="16823"/>
                  </a:lnTo>
                  <a:lnTo>
                    <a:pt x="260496" y="32725"/>
                  </a:lnTo>
                  <a:lnTo>
                    <a:pt x="332550" y="53684"/>
                  </a:lnTo>
                  <a:lnTo>
                    <a:pt x="403403" y="79580"/>
                  </a:lnTo>
                  <a:lnTo>
                    <a:pt x="472978" y="110290"/>
                  </a:lnTo>
                  <a:lnTo>
                    <a:pt x="507261" y="127412"/>
                  </a:lnTo>
                  <a:lnTo>
                    <a:pt x="541196" y="145692"/>
                  </a:lnTo>
                  <a:lnTo>
                    <a:pt x="574771" y="165114"/>
                  </a:lnTo>
                  <a:lnTo>
                    <a:pt x="607977" y="185664"/>
                  </a:lnTo>
                  <a:lnTo>
                    <a:pt x="640804" y="207326"/>
                  </a:lnTo>
                  <a:lnTo>
                    <a:pt x="673243" y="230084"/>
                  </a:lnTo>
                  <a:lnTo>
                    <a:pt x="705283" y="253924"/>
                  </a:lnTo>
                  <a:lnTo>
                    <a:pt x="736915" y="278830"/>
                  </a:lnTo>
                  <a:lnTo>
                    <a:pt x="768129" y="304787"/>
                  </a:lnTo>
                  <a:lnTo>
                    <a:pt x="798914" y="331780"/>
                  </a:lnTo>
                  <a:lnTo>
                    <a:pt x="829262" y="359793"/>
                  </a:lnTo>
                  <a:lnTo>
                    <a:pt x="859162" y="388812"/>
                  </a:lnTo>
                  <a:lnTo>
                    <a:pt x="888604" y="418820"/>
                  </a:lnTo>
                  <a:lnTo>
                    <a:pt x="917579" y="449804"/>
                  </a:lnTo>
                  <a:lnTo>
                    <a:pt x="946077" y="481746"/>
                  </a:lnTo>
                  <a:lnTo>
                    <a:pt x="974087" y="514633"/>
                  </a:lnTo>
                  <a:lnTo>
                    <a:pt x="1001601" y="548449"/>
                  </a:lnTo>
                  <a:lnTo>
                    <a:pt x="1028607" y="583179"/>
                  </a:lnTo>
                  <a:lnTo>
                    <a:pt x="1055097" y="618807"/>
                  </a:lnTo>
                  <a:lnTo>
                    <a:pt x="1081061" y="655318"/>
                  </a:lnTo>
                  <a:lnTo>
                    <a:pt x="1106487" y="692697"/>
                  </a:lnTo>
                  <a:lnTo>
                    <a:pt x="1131368" y="730929"/>
                  </a:lnTo>
                  <a:lnTo>
                    <a:pt x="1155692" y="769998"/>
                  </a:lnTo>
                  <a:lnTo>
                    <a:pt x="1179451" y="809890"/>
                  </a:lnTo>
                  <a:lnTo>
                    <a:pt x="1202633" y="850588"/>
                  </a:lnTo>
                  <a:lnTo>
                    <a:pt x="1225230" y="892078"/>
                  </a:lnTo>
                  <a:lnTo>
                    <a:pt x="1247232" y="934345"/>
                  </a:lnTo>
                  <a:lnTo>
                    <a:pt x="1268627" y="977373"/>
                  </a:lnTo>
                  <a:lnTo>
                    <a:pt x="1289408" y="1021146"/>
                  </a:lnTo>
                  <a:lnTo>
                    <a:pt x="1309564" y="1065651"/>
                  </a:lnTo>
                  <a:lnTo>
                    <a:pt x="1329084" y="1110870"/>
                  </a:lnTo>
                  <a:lnTo>
                    <a:pt x="1347960" y="1156790"/>
                  </a:lnTo>
                  <a:lnTo>
                    <a:pt x="1366181" y="1203395"/>
                  </a:lnTo>
                  <a:lnTo>
                    <a:pt x="1383737" y="1250669"/>
                  </a:lnTo>
                  <a:lnTo>
                    <a:pt x="1400620" y="1298598"/>
                  </a:lnTo>
                  <a:lnTo>
                    <a:pt x="1416817" y="1347166"/>
                  </a:lnTo>
                  <a:lnTo>
                    <a:pt x="1432321" y="1396358"/>
                  </a:lnTo>
                  <a:lnTo>
                    <a:pt x="1447121" y="1446159"/>
                  </a:lnTo>
                  <a:lnTo>
                    <a:pt x="1461207" y="1496552"/>
                  </a:lnTo>
                  <a:lnTo>
                    <a:pt x="1474570" y="1547525"/>
                  </a:lnTo>
                  <a:lnTo>
                    <a:pt x="1487199" y="1599059"/>
                  </a:lnTo>
                  <a:lnTo>
                    <a:pt x="1499084" y="1651142"/>
                  </a:lnTo>
                  <a:lnTo>
                    <a:pt x="1510217" y="1703757"/>
                  </a:lnTo>
                  <a:lnTo>
                    <a:pt x="1520586" y="1756889"/>
                  </a:lnTo>
                  <a:lnTo>
                    <a:pt x="1530182" y="1810523"/>
                  </a:lnTo>
                  <a:lnTo>
                    <a:pt x="1538996" y="1864643"/>
                  </a:lnTo>
                  <a:lnTo>
                    <a:pt x="1547017" y="1919235"/>
                  </a:lnTo>
                  <a:lnTo>
                    <a:pt x="1554235" y="1974283"/>
                  </a:lnTo>
                  <a:lnTo>
                    <a:pt x="1560641" y="2029772"/>
                  </a:lnTo>
                  <a:lnTo>
                    <a:pt x="1566225" y="2085686"/>
                  </a:lnTo>
                  <a:lnTo>
                    <a:pt x="1570977" y="2142011"/>
                  </a:lnTo>
                  <a:lnTo>
                    <a:pt x="1574887" y="2198731"/>
                  </a:lnTo>
                  <a:lnTo>
                    <a:pt x="1577946" y="2255830"/>
                  </a:lnTo>
                  <a:lnTo>
                    <a:pt x="1580142" y="2313294"/>
                  </a:lnTo>
                  <a:lnTo>
                    <a:pt x="1581468" y="2371108"/>
                  </a:lnTo>
                  <a:lnTo>
                    <a:pt x="1581912" y="2429256"/>
                  </a:lnTo>
                  <a:lnTo>
                    <a:pt x="1581468" y="2487402"/>
                  </a:lnTo>
                  <a:lnTo>
                    <a:pt x="1580142" y="2545213"/>
                  </a:lnTo>
                  <a:lnTo>
                    <a:pt x="1577946" y="2602672"/>
                  </a:lnTo>
                  <a:lnTo>
                    <a:pt x="1574887" y="2659766"/>
                  </a:lnTo>
                  <a:lnTo>
                    <a:pt x="1570977" y="2716477"/>
                  </a:lnTo>
                  <a:lnTo>
                    <a:pt x="1566225" y="2772792"/>
                  </a:lnTo>
                  <a:lnTo>
                    <a:pt x="1560641" y="2828696"/>
                  </a:lnTo>
                  <a:lnTo>
                    <a:pt x="1554235" y="2884171"/>
                  </a:lnTo>
                  <a:lnTo>
                    <a:pt x="1547017" y="2939205"/>
                  </a:lnTo>
                  <a:lnTo>
                    <a:pt x="1538996" y="2993781"/>
                  </a:lnTo>
                  <a:lnTo>
                    <a:pt x="1530182" y="3047885"/>
                  </a:lnTo>
                  <a:lnTo>
                    <a:pt x="1520586" y="3101500"/>
                  </a:lnTo>
                  <a:lnTo>
                    <a:pt x="1510217" y="3154612"/>
                  </a:lnTo>
                  <a:lnTo>
                    <a:pt x="1499084" y="3207206"/>
                  </a:lnTo>
                  <a:lnTo>
                    <a:pt x="1487199" y="3259267"/>
                  </a:lnTo>
                  <a:lnTo>
                    <a:pt x="1474570" y="3310779"/>
                  </a:lnTo>
                  <a:lnTo>
                    <a:pt x="1461207" y="3361727"/>
                  </a:lnTo>
                  <a:lnTo>
                    <a:pt x="1447121" y="3412095"/>
                  </a:lnTo>
                  <a:lnTo>
                    <a:pt x="1432321" y="3461870"/>
                  </a:lnTo>
                  <a:lnTo>
                    <a:pt x="1416817" y="3511035"/>
                  </a:lnTo>
                  <a:lnTo>
                    <a:pt x="1400620" y="3559575"/>
                  </a:lnTo>
                  <a:lnTo>
                    <a:pt x="1383737" y="3607476"/>
                  </a:lnTo>
                  <a:lnTo>
                    <a:pt x="1366181" y="3654721"/>
                  </a:lnTo>
                  <a:lnTo>
                    <a:pt x="1347960" y="3701296"/>
                  </a:lnTo>
                  <a:lnTo>
                    <a:pt x="1329084" y="3747185"/>
                  </a:lnTo>
                  <a:lnTo>
                    <a:pt x="1309564" y="3792374"/>
                  </a:lnTo>
                  <a:lnTo>
                    <a:pt x="1289408" y="3836847"/>
                  </a:lnTo>
                  <a:lnTo>
                    <a:pt x="1268627" y="3880589"/>
                  </a:lnTo>
                  <a:lnTo>
                    <a:pt x="1247232" y="3923585"/>
                  </a:lnTo>
                  <a:lnTo>
                    <a:pt x="1225230" y="3965819"/>
                  </a:lnTo>
                  <a:lnTo>
                    <a:pt x="1202633" y="4007276"/>
                  </a:lnTo>
                  <a:lnTo>
                    <a:pt x="1179451" y="4047942"/>
                  </a:lnTo>
                  <a:lnTo>
                    <a:pt x="1155692" y="4087800"/>
                  </a:lnTo>
                  <a:lnTo>
                    <a:pt x="1131368" y="4126837"/>
                  </a:lnTo>
                  <a:lnTo>
                    <a:pt x="1106487" y="4165035"/>
                  </a:lnTo>
                  <a:lnTo>
                    <a:pt x="1081061" y="4202381"/>
                  </a:lnTo>
                  <a:lnTo>
                    <a:pt x="1055097" y="4238860"/>
                  </a:lnTo>
                  <a:lnTo>
                    <a:pt x="1028607" y="4274455"/>
                  </a:lnTo>
                  <a:lnTo>
                    <a:pt x="1001601" y="4309152"/>
                  </a:lnTo>
                  <a:lnTo>
                    <a:pt x="974087" y="4342935"/>
                  </a:lnTo>
                  <a:lnTo>
                    <a:pt x="946077" y="4375790"/>
                  </a:lnTo>
                  <a:lnTo>
                    <a:pt x="917579" y="4407701"/>
                  </a:lnTo>
                  <a:lnTo>
                    <a:pt x="888604" y="4438653"/>
                  </a:lnTo>
                  <a:lnTo>
                    <a:pt x="859162" y="4468631"/>
                  </a:lnTo>
                  <a:lnTo>
                    <a:pt x="829262" y="4497619"/>
                  </a:lnTo>
                  <a:lnTo>
                    <a:pt x="798914" y="4525602"/>
                  </a:lnTo>
                  <a:lnTo>
                    <a:pt x="768129" y="4552566"/>
                  </a:lnTo>
                  <a:lnTo>
                    <a:pt x="736915" y="4578495"/>
                  </a:lnTo>
                  <a:lnTo>
                    <a:pt x="705283" y="4603373"/>
                  </a:lnTo>
                  <a:lnTo>
                    <a:pt x="673243" y="4627186"/>
                  </a:lnTo>
                  <a:lnTo>
                    <a:pt x="640804" y="4649919"/>
                  </a:lnTo>
                  <a:lnTo>
                    <a:pt x="607977" y="4671555"/>
                  </a:lnTo>
                  <a:lnTo>
                    <a:pt x="574771" y="4692081"/>
                  </a:lnTo>
                  <a:lnTo>
                    <a:pt x="541196" y="4711480"/>
                  </a:lnTo>
                  <a:lnTo>
                    <a:pt x="507261" y="4729738"/>
                  </a:lnTo>
                  <a:lnTo>
                    <a:pt x="472978" y="4746839"/>
                  </a:lnTo>
                  <a:lnTo>
                    <a:pt x="438355" y="4762768"/>
                  </a:lnTo>
                  <a:lnTo>
                    <a:pt x="368131" y="4791051"/>
                  </a:lnTo>
                  <a:lnTo>
                    <a:pt x="296668" y="4814464"/>
                  </a:lnTo>
                  <a:lnTo>
                    <a:pt x="224044" y="4832886"/>
                  </a:lnTo>
                  <a:lnTo>
                    <a:pt x="150339" y="4846195"/>
                  </a:lnTo>
                  <a:lnTo>
                    <a:pt x="75631" y="4854269"/>
                  </a:lnTo>
                  <a:lnTo>
                    <a:pt x="0" y="48569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1652016"/>
              <a:ext cx="1582420" cy="4857115"/>
            </a:xfrm>
            <a:custGeom>
              <a:avLst/>
              <a:gdLst/>
              <a:ahLst/>
              <a:cxnLst/>
              <a:rect l="l" t="t" r="r" b="b"/>
              <a:pathLst>
                <a:path w="1582420" h="4857115">
                  <a:moveTo>
                    <a:pt x="0" y="0"/>
                  </a:moveTo>
                  <a:lnTo>
                    <a:pt x="75631" y="2722"/>
                  </a:lnTo>
                  <a:lnTo>
                    <a:pt x="150339" y="10807"/>
                  </a:lnTo>
                  <a:lnTo>
                    <a:pt x="224044" y="24134"/>
                  </a:lnTo>
                  <a:lnTo>
                    <a:pt x="296668" y="42580"/>
                  </a:lnTo>
                  <a:lnTo>
                    <a:pt x="368131" y="66023"/>
                  </a:lnTo>
                  <a:lnTo>
                    <a:pt x="438355" y="94341"/>
                  </a:lnTo>
                  <a:lnTo>
                    <a:pt x="472978" y="110290"/>
                  </a:lnTo>
                  <a:lnTo>
                    <a:pt x="507261" y="127412"/>
                  </a:lnTo>
                  <a:lnTo>
                    <a:pt x="541196" y="145692"/>
                  </a:lnTo>
                  <a:lnTo>
                    <a:pt x="574771" y="165114"/>
                  </a:lnTo>
                  <a:lnTo>
                    <a:pt x="607977" y="185664"/>
                  </a:lnTo>
                  <a:lnTo>
                    <a:pt x="640804" y="207326"/>
                  </a:lnTo>
                  <a:lnTo>
                    <a:pt x="673243" y="230084"/>
                  </a:lnTo>
                  <a:lnTo>
                    <a:pt x="705283" y="253924"/>
                  </a:lnTo>
                  <a:lnTo>
                    <a:pt x="736915" y="278830"/>
                  </a:lnTo>
                  <a:lnTo>
                    <a:pt x="768129" y="304787"/>
                  </a:lnTo>
                  <a:lnTo>
                    <a:pt x="798914" y="331780"/>
                  </a:lnTo>
                  <a:lnTo>
                    <a:pt x="829262" y="359793"/>
                  </a:lnTo>
                  <a:lnTo>
                    <a:pt x="859162" y="388812"/>
                  </a:lnTo>
                  <a:lnTo>
                    <a:pt x="888604" y="418820"/>
                  </a:lnTo>
                  <a:lnTo>
                    <a:pt x="917579" y="449804"/>
                  </a:lnTo>
                  <a:lnTo>
                    <a:pt x="946077" y="481746"/>
                  </a:lnTo>
                  <a:lnTo>
                    <a:pt x="974087" y="514633"/>
                  </a:lnTo>
                  <a:lnTo>
                    <a:pt x="1001601" y="548449"/>
                  </a:lnTo>
                  <a:lnTo>
                    <a:pt x="1028607" y="583179"/>
                  </a:lnTo>
                  <a:lnTo>
                    <a:pt x="1055097" y="618807"/>
                  </a:lnTo>
                  <a:lnTo>
                    <a:pt x="1081061" y="655318"/>
                  </a:lnTo>
                  <a:lnTo>
                    <a:pt x="1106487" y="692697"/>
                  </a:lnTo>
                  <a:lnTo>
                    <a:pt x="1131368" y="730929"/>
                  </a:lnTo>
                  <a:lnTo>
                    <a:pt x="1155692" y="769998"/>
                  </a:lnTo>
                  <a:lnTo>
                    <a:pt x="1179451" y="809890"/>
                  </a:lnTo>
                  <a:lnTo>
                    <a:pt x="1202633" y="850588"/>
                  </a:lnTo>
                  <a:lnTo>
                    <a:pt x="1225230" y="892078"/>
                  </a:lnTo>
                  <a:lnTo>
                    <a:pt x="1247232" y="934345"/>
                  </a:lnTo>
                  <a:lnTo>
                    <a:pt x="1268627" y="977373"/>
                  </a:lnTo>
                  <a:lnTo>
                    <a:pt x="1289408" y="1021146"/>
                  </a:lnTo>
                  <a:lnTo>
                    <a:pt x="1309564" y="1065651"/>
                  </a:lnTo>
                  <a:lnTo>
                    <a:pt x="1329084" y="1110870"/>
                  </a:lnTo>
                  <a:lnTo>
                    <a:pt x="1347960" y="1156790"/>
                  </a:lnTo>
                  <a:lnTo>
                    <a:pt x="1366181" y="1203395"/>
                  </a:lnTo>
                  <a:lnTo>
                    <a:pt x="1383737" y="1250669"/>
                  </a:lnTo>
                  <a:lnTo>
                    <a:pt x="1400620" y="1298598"/>
                  </a:lnTo>
                  <a:lnTo>
                    <a:pt x="1416817" y="1347166"/>
                  </a:lnTo>
                  <a:lnTo>
                    <a:pt x="1432321" y="1396358"/>
                  </a:lnTo>
                  <a:lnTo>
                    <a:pt x="1447121" y="1446159"/>
                  </a:lnTo>
                  <a:lnTo>
                    <a:pt x="1461207" y="1496552"/>
                  </a:lnTo>
                  <a:lnTo>
                    <a:pt x="1474570" y="1547525"/>
                  </a:lnTo>
                  <a:lnTo>
                    <a:pt x="1487199" y="1599059"/>
                  </a:lnTo>
                  <a:lnTo>
                    <a:pt x="1499084" y="1651142"/>
                  </a:lnTo>
                  <a:lnTo>
                    <a:pt x="1510217" y="1703757"/>
                  </a:lnTo>
                  <a:lnTo>
                    <a:pt x="1520586" y="1756889"/>
                  </a:lnTo>
                  <a:lnTo>
                    <a:pt x="1530182" y="1810523"/>
                  </a:lnTo>
                  <a:lnTo>
                    <a:pt x="1538996" y="1864643"/>
                  </a:lnTo>
                  <a:lnTo>
                    <a:pt x="1547017" y="1919235"/>
                  </a:lnTo>
                  <a:lnTo>
                    <a:pt x="1554235" y="1974283"/>
                  </a:lnTo>
                  <a:lnTo>
                    <a:pt x="1560641" y="2029772"/>
                  </a:lnTo>
                  <a:lnTo>
                    <a:pt x="1566225" y="2085686"/>
                  </a:lnTo>
                  <a:lnTo>
                    <a:pt x="1570977" y="2142011"/>
                  </a:lnTo>
                  <a:lnTo>
                    <a:pt x="1574887" y="2198731"/>
                  </a:lnTo>
                  <a:lnTo>
                    <a:pt x="1577946" y="2255830"/>
                  </a:lnTo>
                  <a:lnTo>
                    <a:pt x="1580142" y="2313294"/>
                  </a:lnTo>
                  <a:lnTo>
                    <a:pt x="1581468" y="2371108"/>
                  </a:lnTo>
                  <a:lnTo>
                    <a:pt x="1581912" y="2429256"/>
                  </a:lnTo>
                  <a:lnTo>
                    <a:pt x="1581468" y="2487402"/>
                  </a:lnTo>
                  <a:lnTo>
                    <a:pt x="1580142" y="2545213"/>
                  </a:lnTo>
                  <a:lnTo>
                    <a:pt x="1577946" y="2602672"/>
                  </a:lnTo>
                  <a:lnTo>
                    <a:pt x="1574887" y="2659766"/>
                  </a:lnTo>
                  <a:lnTo>
                    <a:pt x="1570977" y="2716477"/>
                  </a:lnTo>
                  <a:lnTo>
                    <a:pt x="1566225" y="2772792"/>
                  </a:lnTo>
                  <a:lnTo>
                    <a:pt x="1560641" y="2828696"/>
                  </a:lnTo>
                  <a:lnTo>
                    <a:pt x="1554235" y="2884171"/>
                  </a:lnTo>
                  <a:lnTo>
                    <a:pt x="1547017" y="2939205"/>
                  </a:lnTo>
                  <a:lnTo>
                    <a:pt x="1538996" y="2993781"/>
                  </a:lnTo>
                  <a:lnTo>
                    <a:pt x="1530182" y="3047885"/>
                  </a:lnTo>
                  <a:lnTo>
                    <a:pt x="1520586" y="3101500"/>
                  </a:lnTo>
                  <a:lnTo>
                    <a:pt x="1510217" y="3154612"/>
                  </a:lnTo>
                  <a:lnTo>
                    <a:pt x="1499084" y="3207206"/>
                  </a:lnTo>
                  <a:lnTo>
                    <a:pt x="1487199" y="3259267"/>
                  </a:lnTo>
                  <a:lnTo>
                    <a:pt x="1474570" y="3310779"/>
                  </a:lnTo>
                  <a:lnTo>
                    <a:pt x="1461207" y="3361727"/>
                  </a:lnTo>
                  <a:lnTo>
                    <a:pt x="1447121" y="3412095"/>
                  </a:lnTo>
                  <a:lnTo>
                    <a:pt x="1432321" y="3461870"/>
                  </a:lnTo>
                  <a:lnTo>
                    <a:pt x="1416817" y="3511035"/>
                  </a:lnTo>
                  <a:lnTo>
                    <a:pt x="1400620" y="3559575"/>
                  </a:lnTo>
                  <a:lnTo>
                    <a:pt x="1383737" y="3607476"/>
                  </a:lnTo>
                  <a:lnTo>
                    <a:pt x="1366181" y="3654721"/>
                  </a:lnTo>
                  <a:lnTo>
                    <a:pt x="1347960" y="3701296"/>
                  </a:lnTo>
                  <a:lnTo>
                    <a:pt x="1329084" y="3747185"/>
                  </a:lnTo>
                  <a:lnTo>
                    <a:pt x="1309564" y="3792374"/>
                  </a:lnTo>
                  <a:lnTo>
                    <a:pt x="1289408" y="3836847"/>
                  </a:lnTo>
                  <a:lnTo>
                    <a:pt x="1268627" y="3880589"/>
                  </a:lnTo>
                  <a:lnTo>
                    <a:pt x="1247232" y="3923585"/>
                  </a:lnTo>
                  <a:lnTo>
                    <a:pt x="1225230" y="3965819"/>
                  </a:lnTo>
                  <a:lnTo>
                    <a:pt x="1202633" y="4007276"/>
                  </a:lnTo>
                  <a:lnTo>
                    <a:pt x="1179451" y="4047942"/>
                  </a:lnTo>
                  <a:lnTo>
                    <a:pt x="1155692" y="4087800"/>
                  </a:lnTo>
                  <a:lnTo>
                    <a:pt x="1131368" y="4126837"/>
                  </a:lnTo>
                  <a:lnTo>
                    <a:pt x="1106487" y="4165035"/>
                  </a:lnTo>
                  <a:lnTo>
                    <a:pt x="1081061" y="4202381"/>
                  </a:lnTo>
                  <a:lnTo>
                    <a:pt x="1055097" y="4238860"/>
                  </a:lnTo>
                  <a:lnTo>
                    <a:pt x="1028607" y="4274455"/>
                  </a:lnTo>
                  <a:lnTo>
                    <a:pt x="1001601" y="4309152"/>
                  </a:lnTo>
                  <a:lnTo>
                    <a:pt x="974087" y="4342935"/>
                  </a:lnTo>
                  <a:lnTo>
                    <a:pt x="946077" y="4375790"/>
                  </a:lnTo>
                  <a:lnTo>
                    <a:pt x="917579" y="4407701"/>
                  </a:lnTo>
                  <a:lnTo>
                    <a:pt x="888604" y="4438653"/>
                  </a:lnTo>
                  <a:lnTo>
                    <a:pt x="859162" y="4468631"/>
                  </a:lnTo>
                  <a:lnTo>
                    <a:pt x="829262" y="4497619"/>
                  </a:lnTo>
                  <a:lnTo>
                    <a:pt x="798914" y="4525602"/>
                  </a:lnTo>
                  <a:lnTo>
                    <a:pt x="768129" y="4552566"/>
                  </a:lnTo>
                  <a:lnTo>
                    <a:pt x="736915" y="4578495"/>
                  </a:lnTo>
                  <a:lnTo>
                    <a:pt x="705283" y="4603373"/>
                  </a:lnTo>
                  <a:lnTo>
                    <a:pt x="673243" y="4627186"/>
                  </a:lnTo>
                  <a:lnTo>
                    <a:pt x="640804" y="4649919"/>
                  </a:lnTo>
                  <a:lnTo>
                    <a:pt x="607977" y="4671555"/>
                  </a:lnTo>
                  <a:lnTo>
                    <a:pt x="574771" y="4692081"/>
                  </a:lnTo>
                  <a:lnTo>
                    <a:pt x="541196" y="4711480"/>
                  </a:lnTo>
                  <a:lnTo>
                    <a:pt x="507261" y="4729738"/>
                  </a:lnTo>
                  <a:lnTo>
                    <a:pt x="472978" y="4746839"/>
                  </a:lnTo>
                  <a:lnTo>
                    <a:pt x="438355" y="4762768"/>
                  </a:lnTo>
                  <a:lnTo>
                    <a:pt x="368131" y="4791051"/>
                  </a:lnTo>
                  <a:lnTo>
                    <a:pt x="296668" y="4814464"/>
                  </a:lnTo>
                  <a:lnTo>
                    <a:pt x="224044" y="4832886"/>
                  </a:lnTo>
                  <a:lnTo>
                    <a:pt x="150339" y="4846195"/>
                  </a:lnTo>
                  <a:lnTo>
                    <a:pt x="75631" y="4854269"/>
                  </a:lnTo>
                  <a:lnTo>
                    <a:pt x="37926" y="4856305"/>
                  </a:lnTo>
                  <a:lnTo>
                    <a:pt x="0" y="4856988"/>
                  </a:lnTo>
                </a:path>
              </a:pathLst>
            </a:custGeom>
            <a:ln w="28956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3306548" y="845240"/>
            <a:ext cx="4091940" cy="43560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50" b="0" spc="90" dirty="0">
                <a:solidFill>
                  <a:srgbClr val="0C5BDB"/>
                </a:solidFill>
                <a:latin typeface="Cambria"/>
                <a:cs typeface="Cambria"/>
              </a:rPr>
              <a:t>Outline</a:t>
            </a:r>
            <a:r>
              <a:rPr sz="2650" b="0" spc="125" dirty="0">
                <a:solidFill>
                  <a:srgbClr val="0C5BDB"/>
                </a:solidFill>
                <a:latin typeface="Cambria"/>
                <a:cs typeface="Cambria"/>
              </a:rPr>
              <a:t> </a:t>
            </a:r>
            <a:r>
              <a:rPr sz="2650" b="0" spc="55" dirty="0">
                <a:solidFill>
                  <a:srgbClr val="0C5BDB"/>
                </a:solidFill>
                <a:latin typeface="Cambria"/>
                <a:cs typeface="Cambria"/>
              </a:rPr>
              <a:t>of</a:t>
            </a:r>
            <a:r>
              <a:rPr sz="2650" b="0" spc="125" dirty="0">
                <a:solidFill>
                  <a:srgbClr val="0C5BDB"/>
                </a:solidFill>
                <a:latin typeface="Cambria"/>
                <a:cs typeface="Cambria"/>
              </a:rPr>
              <a:t> </a:t>
            </a:r>
            <a:r>
              <a:rPr sz="2650" b="0" dirty="0">
                <a:solidFill>
                  <a:srgbClr val="0C5BDB"/>
                </a:solidFill>
                <a:latin typeface="Cambria"/>
                <a:cs typeface="Cambria"/>
              </a:rPr>
              <a:t>the</a:t>
            </a:r>
            <a:r>
              <a:rPr sz="2650" b="0" spc="110" dirty="0">
                <a:solidFill>
                  <a:srgbClr val="0C5BDB"/>
                </a:solidFill>
                <a:latin typeface="Cambria"/>
                <a:cs typeface="Cambria"/>
              </a:rPr>
              <a:t> </a:t>
            </a:r>
            <a:r>
              <a:rPr sz="2650" b="0" spc="-10" dirty="0">
                <a:solidFill>
                  <a:srgbClr val="0C5BDB"/>
                </a:solidFill>
                <a:latin typeface="Cambria"/>
                <a:cs typeface="Cambria"/>
              </a:rPr>
              <a:t>Presentation</a:t>
            </a:r>
            <a:endParaRPr sz="26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97441" y="1735377"/>
            <a:ext cx="6332220" cy="44082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685" marR="5065395" indent="-134620">
              <a:lnSpc>
                <a:spcPct val="150500"/>
              </a:lnSpc>
              <a:spcBef>
                <a:spcPts val="100"/>
              </a:spcBef>
            </a:pPr>
            <a:r>
              <a:rPr sz="2100" spc="-10" dirty="0">
                <a:latin typeface="Cambria"/>
                <a:cs typeface="Cambria"/>
              </a:rPr>
              <a:t>Abstract Objective</a:t>
            </a:r>
            <a:endParaRPr sz="2100" dirty="0">
              <a:latin typeface="Cambria"/>
              <a:cs typeface="Cambria"/>
            </a:endParaRPr>
          </a:p>
          <a:p>
            <a:pPr marL="414655" marR="3509010" indent="-67310">
              <a:lnSpc>
                <a:spcPct val="150500"/>
              </a:lnSpc>
            </a:pPr>
            <a:r>
              <a:rPr sz="2100" dirty="0">
                <a:latin typeface="Cambria"/>
                <a:cs typeface="Cambria"/>
              </a:rPr>
              <a:t>Problem</a:t>
            </a:r>
            <a:r>
              <a:rPr sz="2100" spc="260" dirty="0">
                <a:latin typeface="Cambria"/>
                <a:cs typeface="Cambria"/>
              </a:rPr>
              <a:t> </a:t>
            </a:r>
            <a:r>
              <a:rPr sz="2100" spc="-10" dirty="0">
                <a:latin typeface="Cambria"/>
                <a:cs typeface="Cambria"/>
              </a:rPr>
              <a:t>statement </a:t>
            </a:r>
            <a:r>
              <a:rPr lang="en-IN" sz="2100" spc="-10" dirty="0">
                <a:latin typeface="Cambria"/>
                <a:cs typeface="Cambria"/>
              </a:rPr>
              <a:t> Existing System &amp;</a:t>
            </a:r>
          </a:p>
          <a:p>
            <a:pPr marL="414655" marR="3509010" indent="-67310">
              <a:lnSpc>
                <a:spcPct val="150500"/>
              </a:lnSpc>
            </a:pPr>
            <a:r>
              <a:rPr lang="en-IN" sz="2100" spc="-10" dirty="0">
                <a:latin typeface="Cambria"/>
                <a:cs typeface="Cambria"/>
              </a:rPr>
              <a:t>Proposed </a:t>
            </a:r>
            <a:r>
              <a:rPr sz="2100" dirty="0">
                <a:latin typeface="Cambria"/>
                <a:cs typeface="Cambria"/>
              </a:rPr>
              <a:t>System</a:t>
            </a:r>
          </a:p>
          <a:p>
            <a:pPr>
              <a:lnSpc>
                <a:spcPct val="100000"/>
              </a:lnSpc>
              <a:spcBef>
                <a:spcPts val="1315"/>
              </a:spcBef>
            </a:pPr>
            <a:endParaRPr sz="2100" dirty="0">
              <a:latin typeface="Cambria"/>
              <a:cs typeface="Cambria"/>
            </a:endParaRPr>
          </a:p>
          <a:p>
            <a:pPr marL="3957954" marR="193675" indent="-266700">
              <a:lnSpc>
                <a:spcPct val="150500"/>
              </a:lnSpc>
            </a:pPr>
            <a:r>
              <a:rPr sz="2100" dirty="0">
                <a:latin typeface="Cambria"/>
                <a:cs typeface="Cambria"/>
              </a:rPr>
              <a:t>System</a:t>
            </a:r>
            <a:r>
              <a:rPr sz="2100" spc="240" dirty="0">
                <a:latin typeface="Cambria"/>
                <a:cs typeface="Cambria"/>
              </a:rPr>
              <a:t> </a:t>
            </a:r>
            <a:r>
              <a:rPr sz="2100" spc="-10" dirty="0">
                <a:latin typeface="Cambria"/>
                <a:cs typeface="Cambria"/>
              </a:rPr>
              <a:t>Architecture </a:t>
            </a:r>
            <a:r>
              <a:rPr sz="2100" dirty="0">
                <a:latin typeface="Cambria"/>
                <a:cs typeface="Cambria"/>
              </a:rPr>
              <a:t>Literature</a:t>
            </a:r>
            <a:r>
              <a:rPr sz="2100" spc="190" dirty="0">
                <a:latin typeface="Cambria"/>
                <a:cs typeface="Cambria"/>
              </a:rPr>
              <a:t> </a:t>
            </a:r>
            <a:r>
              <a:rPr sz="2100" spc="-10" dirty="0">
                <a:latin typeface="Cambria"/>
                <a:cs typeface="Cambria"/>
              </a:rPr>
              <a:t>reviews</a:t>
            </a:r>
            <a:endParaRPr sz="2100" dirty="0">
              <a:latin typeface="Cambria"/>
              <a:cs typeface="Cambria"/>
            </a:endParaRPr>
          </a:p>
          <a:p>
            <a:pPr marL="5161915">
              <a:lnSpc>
                <a:spcPct val="100000"/>
              </a:lnSpc>
              <a:spcBef>
                <a:spcPts val="1270"/>
              </a:spcBef>
            </a:pPr>
            <a:r>
              <a:rPr sz="2100" spc="-10" dirty="0">
                <a:latin typeface="Cambria"/>
                <a:cs typeface="Cambria"/>
              </a:rPr>
              <a:t>Reference</a:t>
            </a:r>
            <a:endParaRPr sz="2100" dirty="0">
              <a:latin typeface="Cambria"/>
              <a:cs typeface="Cambr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452866" y="4123944"/>
            <a:ext cx="1494790" cy="1803400"/>
            <a:chOff x="8452866" y="4123944"/>
            <a:chExt cx="1494790" cy="180340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07780" y="4123944"/>
              <a:ext cx="1039367" cy="180289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458200" y="4428744"/>
              <a:ext cx="783590" cy="1096010"/>
            </a:xfrm>
            <a:custGeom>
              <a:avLst/>
              <a:gdLst/>
              <a:ahLst/>
              <a:cxnLst/>
              <a:rect l="l" t="t" r="r" b="b"/>
              <a:pathLst>
                <a:path w="783590" h="1096010">
                  <a:moveTo>
                    <a:pt x="294132" y="1095756"/>
                  </a:moveTo>
                  <a:lnTo>
                    <a:pt x="783335" y="1095756"/>
                  </a:lnTo>
                </a:path>
                <a:path w="783590" h="1096010">
                  <a:moveTo>
                    <a:pt x="0" y="4572"/>
                  </a:moveTo>
                  <a:lnTo>
                    <a:pt x="513587" y="0"/>
                  </a:lnTo>
                </a:path>
                <a:path w="783590" h="1096010">
                  <a:moveTo>
                    <a:pt x="62483" y="615695"/>
                  </a:moveTo>
                  <a:lnTo>
                    <a:pt x="551687" y="615695"/>
                  </a:lnTo>
                </a:path>
              </a:pathLst>
            </a:custGeom>
            <a:ln w="10668">
              <a:solidFill>
                <a:srgbClr val="3B80F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20721" y="792602"/>
            <a:ext cx="2228215" cy="3093720"/>
            <a:chOff x="0" y="772668"/>
            <a:chExt cx="2228215" cy="3093720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3400" y="1725167"/>
              <a:ext cx="1254251" cy="214121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184147" y="2072640"/>
              <a:ext cx="1043940" cy="1449705"/>
            </a:xfrm>
            <a:custGeom>
              <a:avLst/>
              <a:gdLst/>
              <a:ahLst/>
              <a:cxnLst/>
              <a:rect l="l" t="t" r="r" b="b"/>
              <a:pathLst>
                <a:path w="1043939" h="1449704">
                  <a:moveTo>
                    <a:pt x="0" y="0"/>
                  </a:moveTo>
                  <a:lnTo>
                    <a:pt x="489203" y="0"/>
                  </a:lnTo>
                </a:path>
                <a:path w="1043939" h="1449704">
                  <a:moveTo>
                    <a:pt x="228600" y="486156"/>
                  </a:moveTo>
                  <a:lnTo>
                    <a:pt x="719327" y="486156"/>
                  </a:lnTo>
                </a:path>
                <a:path w="1043939" h="1449704">
                  <a:moveTo>
                    <a:pt x="367284" y="969263"/>
                  </a:moveTo>
                  <a:lnTo>
                    <a:pt x="856488" y="969263"/>
                  </a:lnTo>
                </a:path>
                <a:path w="1043939" h="1449704">
                  <a:moveTo>
                    <a:pt x="553211" y="1449324"/>
                  </a:moveTo>
                  <a:lnTo>
                    <a:pt x="1043939" y="1449324"/>
                  </a:lnTo>
                </a:path>
              </a:pathLst>
            </a:custGeom>
            <a:ln w="10668">
              <a:solidFill>
                <a:srgbClr val="3B80F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772668"/>
              <a:ext cx="943356" cy="905256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0290039" y="6519410"/>
            <a:ext cx="339090" cy="1769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z="1150" spc="-20" smtClean="0">
                <a:solidFill>
                  <a:srgbClr val="595959"/>
                </a:solidFill>
                <a:latin typeface="Arial"/>
                <a:cs typeface="Arial"/>
              </a:rPr>
              <a:t>2</a:t>
            </a:fld>
            <a:r>
              <a:rPr lang="en-IN" sz="1150" spc="-20" dirty="0">
                <a:solidFill>
                  <a:srgbClr val="595959"/>
                </a:solidFill>
                <a:latin typeface="Arial"/>
                <a:cs typeface="Arial"/>
              </a:rPr>
              <a:t>/13</a:t>
            </a:r>
            <a:endParaRPr sz="11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7029" rIns="0" bIns="0" rtlCol="0">
            <a:spAutoFit/>
          </a:bodyPr>
          <a:lstStyle/>
          <a:p>
            <a:pPr marL="1557655">
              <a:lnSpc>
                <a:spcPct val="100000"/>
              </a:lnSpc>
              <a:spcBef>
                <a:spcPts val="125"/>
              </a:spcBef>
            </a:pPr>
            <a:r>
              <a:rPr sz="2900" b="0" spc="-10" dirty="0">
                <a:solidFill>
                  <a:srgbClr val="0C5BDB"/>
                </a:solidFill>
                <a:latin typeface="Times New Roman"/>
                <a:cs typeface="Times New Roman"/>
              </a:rPr>
              <a:t>Abstract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1377" y="2512556"/>
            <a:ext cx="9646920" cy="2977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5300"/>
              </a:lnSpc>
              <a:spcBef>
                <a:spcPts val="95"/>
              </a:spcBef>
            </a:pP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Sleep</a:t>
            </a:r>
            <a:r>
              <a:rPr sz="2100" spc="4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quality</a:t>
            </a:r>
            <a:r>
              <a:rPr sz="2100" spc="4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plays</a:t>
            </a:r>
            <a:r>
              <a:rPr sz="2100" spc="4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2100" spc="4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vital</a:t>
            </a:r>
            <a:r>
              <a:rPr sz="2100" spc="4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role</a:t>
            </a:r>
            <a:r>
              <a:rPr sz="2100" spc="3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2100" spc="4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human</a:t>
            </a:r>
            <a:r>
              <a:rPr sz="2100" spc="4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health</a:t>
            </a:r>
            <a:r>
              <a:rPr sz="2100" spc="4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2100" spc="4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595959"/>
                </a:solidFill>
                <a:latin typeface="Arial"/>
                <a:cs typeface="Arial"/>
              </a:rPr>
              <a:t>well-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being.</a:t>
            </a:r>
            <a:r>
              <a:rPr sz="2100" spc="4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Most</a:t>
            </a:r>
            <a:r>
              <a:rPr sz="2100" spc="4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595959"/>
                </a:solidFill>
                <a:latin typeface="Arial"/>
                <a:cs typeface="Arial"/>
              </a:rPr>
              <a:t>existing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sleep</a:t>
            </a:r>
            <a:r>
              <a:rPr sz="2100" spc="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monitoring</a:t>
            </a:r>
            <a:r>
              <a:rPr sz="2100" spc="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systems</a:t>
            </a:r>
            <a:r>
              <a:rPr sz="2100" spc="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only</a:t>
            </a:r>
            <a:r>
              <a:rPr sz="2100" spc="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track</a:t>
            </a:r>
            <a:r>
              <a:rPr sz="2100" spc="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sleep</a:t>
            </a:r>
            <a:r>
              <a:rPr sz="2100" spc="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sz="2100" spc="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2100" spc="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do</a:t>
            </a:r>
            <a:r>
              <a:rPr sz="2100" spc="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not</a:t>
            </a:r>
            <a:r>
              <a:rPr sz="2100" spc="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actively</a:t>
            </a:r>
            <a:r>
              <a:rPr sz="2100" spc="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improve</a:t>
            </a:r>
            <a:r>
              <a:rPr sz="2100" spc="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595959"/>
                </a:solidFill>
                <a:latin typeface="Arial"/>
                <a:cs typeface="Arial"/>
              </a:rPr>
              <a:t>sleep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conditions.</a:t>
            </a:r>
            <a:r>
              <a:rPr sz="2100" spc="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This</a:t>
            </a:r>
            <a:r>
              <a:rPr sz="2100" spc="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project</a:t>
            </a:r>
            <a:r>
              <a:rPr sz="2100" spc="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proposes</a:t>
            </a:r>
            <a:r>
              <a:rPr sz="2100" spc="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an</a:t>
            </a:r>
            <a:r>
              <a:rPr sz="2100" spc="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b="1" spc="-20" dirty="0">
                <a:solidFill>
                  <a:srgbClr val="595959"/>
                </a:solidFill>
                <a:latin typeface="Arial"/>
                <a:cs typeface="Arial"/>
              </a:rPr>
              <a:t>IoT-</a:t>
            </a:r>
            <a:r>
              <a:rPr sz="2100" b="1" dirty="0">
                <a:solidFill>
                  <a:srgbClr val="595959"/>
                </a:solidFill>
                <a:latin typeface="Arial"/>
                <a:cs typeface="Arial"/>
              </a:rPr>
              <a:t>powered</a:t>
            </a:r>
            <a:r>
              <a:rPr sz="2100" b="1" spc="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595959"/>
                </a:solidFill>
                <a:latin typeface="Arial"/>
                <a:cs typeface="Arial"/>
              </a:rPr>
              <a:t>adaptive</a:t>
            </a:r>
            <a:r>
              <a:rPr sz="2100" b="1" spc="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595959"/>
                </a:solidFill>
                <a:latin typeface="Arial"/>
                <a:cs typeface="Arial"/>
              </a:rPr>
              <a:t>sleep</a:t>
            </a:r>
            <a:r>
              <a:rPr sz="2100" b="1" spc="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b="1" spc="-10" dirty="0">
                <a:solidFill>
                  <a:srgbClr val="595959"/>
                </a:solidFill>
                <a:latin typeface="Arial"/>
                <a:cs typeface="Arial"/>
              </a:rPr>
              <a:t>environment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that</a:t>
            </a:r>
            <a:r>
              <a:rPr sz="2100" spc="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monitors</a:t>
            </a:r>
            <a:r>
              <a:rPr sz="2100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595959"/>
                </a:solidFill>
                <a:latin typeface="Arial"/>
                <a:cs typeface="Arial"/>
              </a:rPr>
              <a:t>real-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time</a:t>
            </a:r>
            <a:r>
              <a:rPr sz="2100" spc="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biometric</a:t>
            </a:r>
            <a:r>
              <a:rPr sz="2100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signals</a:t>
            </a:r>
            <a:r>
              <a:rPr sz="2100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such</a:t>
            </a:r>
            <a:r>
              <a:rPr sz="2100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as</a:t>
            </a:r>
            <a:r>
              <a:rPr sz="2100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heart</a:t>
            </a:r>
            <a:r>
              <a:rPr sz="2100" spc="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rate,</a:t>
            </a:r>
            <a:r>
              <a:rPr sz="2100" spc="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body</a:t>
            </a:r>
            <a:r>
              <a:rPr sz="2100" spc="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movement,</a:t>
            </a:r>
            <a:r>
              <a:rPr sz="2100" spc="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spc="-25" dirty="0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room</a:t>
            </a:r>
            <a:r>
              <a:rPr sz="2100" spc="4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temperature.</a:t>
            </a:r>
            <a:r>
              <a:rPr sz="2100" spc="4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Using</a:t>
            </a:r>
            <a:r>
              <a:rPr sz="2100" spc="4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595959"/>
                </a:solidFill>
                <a:latin typeface="Arial"/>
                <a:cs typeface="Arial"/>
              </a:rPr>
              <a:t>cloud-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based</a:t>
            </a:r>
            <a:r>
              <a:rPr sz="2100" spc="4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intelligence,</a:t>
            </a:r>
            <a:r>
              <a:rPr sz="2100" spc="4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2100" spc="4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r>
              <a:rPr sz="2100" spc="4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analyzes</a:t>
            </a:r>
            <a:r>
              <a:rPr sz="2100" spc="4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595959"/>
                </a:solidFill>
                <a:latin typeface="Arial"/>
                <a:cs typeface="Arial"/>
              </a:rPr>
              <a:t>sleep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patterns</a:t>
            </a:r>
            <a:r>
              <a:rPr sz="2100" spc="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2100" spc="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automatically</a:t>
            </a:r>
            <a:r>
              <a:rPr sz="2100" spc="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controls</a:t>
            </a:r>
            <a:r>
              <a:rPr sz="2100" spc="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environmental</a:t>
            </a:r>
            <a:r>
              <a:rPr sz="2100" spc="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factors</a:t>
            </a:r>
            <a:r>
              <a:rPr sz="2100" spc="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like</a:t>
            </a:r>
            <a:r>
              <a:rPr sz="2100" spc="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lighting</a:t>
            </a:r>
            <a:r>
              <a:rPr sz="2100" spc="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2100" spc="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595959"/>
                </a:solidFill>
                <a:latin typeface="Arial"/>
                <a:cs typeface="Arial"/>
              </a:rPr>
              <a:t>airflow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2100" spc="2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improve</a:t>
            </a:r>
            <a:r>
              <a:rPr sz="2100" spc="2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sleep</a:t>
            </a:r>
            <a:r>
              <a:rPr sz="2100" spc="3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quality.</a:t>
            </a:r>
            <a:r>
              <a:rPr sz="2100" spc="3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2100" spc="2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proposed</a:t>
            </a:r>
            <a:r>
              <a:rPr sz="2100" spc="2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solution</a:t>
            </a:r>
            <a:r>
              <a:rPr sz="2100" spc="2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2100" spc="3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595959"/>
                </a:solidFill>
                <a:latin typeface="Arial"/>
                <a:cs typeface="Arial"/>
              </a:rPr>
              <a:t>cost-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effective,</a:t>
            </a:r>
            <a:r>
              <a:rPr sz="2100" spc="2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scalable,</a:t>
            </a:r>
            <a:r>
              <a:rPr sz="2100" spc="3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spc="-25" dirty="0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suitable</a:t>
            </a:r>
            <a:r>
              <a:rPr sz="21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21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smart</a:t>
            </a:r>
            <a:r>
              <a:rPr sz="21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home</a:t>
            </a:r>
            <a:r>
              <a:rPr sz="21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21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healthcare</a:t>
            </a:r>
            <a:r>
              <a:rPr sz="2100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595959"/>
                </a:solidFill>
                <a:latin typeface="Arial"/>
                <a:cs typeface="Arial"/>
              </a:rPr>
              <a:t>applications.</a:t>
            </a:r>
            <a:endParaRPr sz="21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71" y="917448"/>
            <a:ext cx="902207" cy="105308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290039" y="6519410"/>
            <a:ext cx="339090" cy="191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z="1150" spc="-20" dirty="0">
                <a:solidFill>
                  <a:srgbClr val="595959"/>
                </a:solidFill>
                <a:latin typeface="Arial"/>
                <a:cs typeface="Arial"/>
              </a:rPr>
              <a:t>3</a:t>
            </a:fld>
            <a:r>
              <a:rPr sz="1150" spc="-20" dirty="0">
                <a:solidFill>
                  <a:srgbClr val="595959"/>
                </a:solidFill>
                <a:latin typeface="Arial"/>
                <a:cs typeface="Arial"/>
              </a:rPr>
              <a:t>/13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5848" rIns="0" bIns="0" rtlCol="0">
            <a:spAutoFit/>
          </a:bodyPr>
          <a:lstStyle/>
          <a:p>
            <a:pPr marL="1414780">
              <a:lnSpc>
                <a:spcPct val="100000"/>
              </a:lnSpc>
              <a:spcBef>
                <a:spcPts val="125"/>
              </a:spcBef>
            </a:pPr>
            <a:r>
              <a:rPr sz="2900" b="0" spc="45" dirty="0">
                <a:solidFill>
                  <a:srgbClr val="0C5BDB"/>
                </a:solidFill>
                <a:latin typeface="Cambria"/>
                <a:cs typeface="Cambria"/>
              </a:rPr>
              <a:t>Objective</a:t>
            </a:r>
            <a:endParaRPr sz="29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3884" y="2148319"/>
            <a:ext cx="9560560" cy="2913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115" marR="775970" indent="-400050">
              <a:lnSpc>
                <a:spcPct val="150500"/>
              </a:lnSpc>
              <a:spcBef>
                <a:spcPts val="100"/>
              </a:spcBef>
              <a:buChar char="●"/>
              <a:tabLst>
                <a:tab pos="413384" algn="l"/>
              </a:tabLst>
            </a:pP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21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monitor</a:t>
            </a:r>
            <a:r>
              <a:rPr sz="21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595959"/>
                </a:solidFill>
                <a:latin typeface="Arial"/>
                <a:cs typeface="Arial"/>
              </a:rPr>
              <a:t>real-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time biometric</a:t>
            </a:r>
            <a:r>
              <a:rPr sz="2100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parameters</a:t>
            </a:r>
            <a:r>
              <a:rPr sz="2100" spc="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such</a:t>
            </a:r>
            <a:r>
              <a:rPr sz="21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as</a:t>
            </a:r>
            <a:r>
              <a:rPr sz="2100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heart</a:t>
            </a:r>
            <a:r>
              <a:rPr sz="2100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rate</a:t>
            </a:r>
            <a:r>
              <a:rPr sz="21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2100" spc="-20" dirty="0">
                <a:solidFill>
                  <a:srgbClr val="595959"/>
                </a:solidFill>
                <a:latin typeface="Arial"/>
                <a:cs typeface="Arial"/>
              </a:rPr>
              <a:t> body 	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movement</a:t>
            </a:r>
            <a:r>
              <a:rPr sz="2100" spc="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using</a:t>
            </a:r>
            <a:r>
              <a:rPr sz="21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IoT</a:t>
            </a:r>
            <a:r>
              <a:rPr sz="21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595959"/>
                </a:solidFill>
                <a:latin typeface="Arial"/>
                <a:cs typeface="Arial"/>
              </a:rPr>
              <a:t>sensors</a:t>
            </a:r>
            <a:endParaRPr sz="2100">
              <a:latin typeface="Arial"/>
              <a:cs typeface="Arial"/>
            </a:endParaRPr>
          </a:p>
          <a:p>
            <a:pPr marL="412115" indent="-399415">
              <a:lnSpc>
                <a:spcPct val="100000"/>
              </a:lnSpc>
              <a:spcBef>
                <a:spcPts val="1270"/>
              </a:spcBef>
              <a:buChar char="●"/>
              <a:tabLst>
                <a:tab pos="412115" algn="l"/>
              </a:tabLst>
            </a:pP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2100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collect</a:t>
            </a:r>
            <a:r>
              <a:rPr sz="2100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2100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analyze </a:t>
            </a:r>
            <a:r>
              <a:rPr sz="2100" spc="-10" dirty="0">
                <a:solidFill>
                  <a:srgbClr val="595959"/>
                </a:solidFill>
                <a:latin typeface="Arial"/>
                <a:cs typeface="Arial"/>
              </a:rPr>
              <a:t>sleep-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related</a:t>
            </a:r>
            <a:r>
              <a:rPr sz="2100" spc="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data through</a:t>
            </a:r>
            <a:r>
              <a:rPr sz="2100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cloud </a:t>
            </a:r>
            <a:r>
              <a:rPr sz="2100" spc="-10" dirty="0">
                <a:solidFill>
                  <a:srgbClr val="595959"/>
                </a:solidFill>
                <a:latin typeface="Arial"/>
                <a:cs typeface="Arial"/>
              </a:rPr>
              <a:t>connectivity</a:t>
            </a:r>
            <a:endParaRPr sz="2100">
              <a:latin typeface="Arial"/>
              <a:cs typeface="Arial"/>
            </a:endParaRPr>
          </a:p>
          <a:p>
            <a:pPr marL="412115" indent="-399415">
              <a:lnSpc>
                <a:spcPct val="100000"/>
              </a:lnSpc>
              <a:spcBef>
                <a:spcPts val="1270"/>
              </a:spcBef>
              <a:buChar char="●"/>
              <a:tabLst>
                <a:tab pos="412115" algn="l"/>
              </a:tabLst>
            </a:pP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21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identify individual</a:t>
            </a:r>
            <a:r>
              <a:rPr sz="2100" spc="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sleep</a:t>
            </a:r>
            <a:r>
              <a:rPr sz="21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patterns</a:t>
            </a:r>
            <a:r>
              <a:rPr sz="2100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21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create</a:t>
            </a:r>
            <a:r>
              <a:rPr sz="21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personalized</a:t>
            </a:r>
            <a:r>
              <a:rPr sz="2100" spc="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sleep</a:t>
            </a:r>
            <a:r>
              <a:rPr sz="21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595959"/>
                </a:solidFill>
                <a:latin typeface="Arial"/>
                <a:cs typeface="Arial"/>
              </a:rPr>
              <a:t>profiles</a:t>
            </a:r>
            <a:endParaRPr sz="2100">
              <a:latin typeface="Arial"/>
              <a:cs typeface="Arial"/>
            </a:endParaRPr>
          </a:p>
          <a:p>
            <a:pPr marL="412115" indent="-399415">
              <a:lnSpc>
                <a:spcPct val="100000"/>
              </a:lnSpc>
              <a:spcBef>
                <a:spcPts val="1275"/>
              </a:spcBef>
              <a:buChar char="●"/>
              <a:tabLst>
                <a:tab pos="412115" algn="l"/>
              </a:tabLst>
            </a:pP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21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automatically</a:t>
            </a:r>
            <a:r>
              <a:rPr sz="2100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control</a:t>
            </a:r>
            <a:r>
              <a:rPr sz="2100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environmental</a:t>
            </a:r>
            <a:r>
              <a:rPr sz="2100" spc="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conditions</a:t>
            </a:r>
            <a:r>
              <a:rPr sz="2100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such</a:t>
            </a:r>
            <a:r>
              <a:rPr sz="21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as</a:t>
            </a:r>
            <a:r>
              <a:rPr sz="21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lighting</a:t>
            </a:r>
            <a:r>
              <a:rPr sz="21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21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spc="-10" dirty="0">
                <a:solidFill>
                  <a:srgbClr val="595959"/>
                </a:solidFill>
                <a:latin typeface="Arial"/>
                <a:cs typeface="Arial"/>
              </a:rPr>
              <a:t>airflow</a:t>
            </a:r>
            <a:endParaRPr sz="2100">
              <a:latin typeface="Arial"/>
              <a:cs typeface="Arial"/>
            </a:endParaRPr>
          </a:p>
          <a:p>
            <a:pPr marL="412115" indent="-399415">
              <a:lnSpc>
                <a:spcPct val="100000"/>
              </a:lnSpc>
              <a:spcBef>
                <a:spcPts val="1260"/>
              </a:spcBef>
              <a:buChar char="●"/>
              <a:tabLst>
                <a:tab pos="412115" algn="l"/>
              </a:tabLst>
            </a:pP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21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improve</a:t>
            </a:r>
            <a:r>
              <a:rPr sz="2100" spc="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sleep</a:t>
            </a:r>
            <a:r>
              <a:rPr sz="21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quality</a:t>
            </a:r>
            <a:r>
              <a:rPr sz="2100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using</a:t>
            </a:r>
            <a:r>
              <a:rPr sz="21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an</a:t>
            </a:r>
            <a:r>
              <a:rPr sz="21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adaptive</a:t>
            </a:r>
            <a:r>
              <a:rPr sz="2100" spc="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21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intelligent</a:t>
            </a:r>
            <a:r>
              <a:rPr sz="2100" spc="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spc="-20" dirty="0">
                <a:solidFill>
                  <a:srgbClr val="595959"/>
                </a:solidFill>
                <a:latin typeface="Arial"/>
                <a:cs typeface="Arial"/>
              </a:rPr>
              <a:t>IoT-</a:t>
            </a:r>
            <a:r>
              <a:rPr sz="2100" dirty="0">
                <a:solidFill>
                  <a:srgbClr val="595959"/>
                </a:solidFill>
                <a:latin typeface="Arial"/>
                <a:cs typeface="Arial"/>
              </a:rPr>
              <a:t>based</a:t>
            </a:r>
            <a:r>
              <a:rPr sz="2100" spc="-10" dirty="0">
                <a:solidFill>
                  <a:srgbClr val="595959"/>
                </a:solidFill>
                <a:latin typeface="Arial"/>
                <a:cs typeface="Arial"/>
              </a:rPr>
              <a:t> system</a:t>
            </a:r>
            <a:endParaRPr sz="21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592" y="961644"/>
            <a:ext cx="941831" cy="108051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20" dirty="0"/>
              <a:t>4</a:t>
            </a:fld>
            <a:r>
              <a:rPr spc="-20" dirty="0"/>
              <a:t>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05211" y="982535"/>
            <a:ext cx="3489960" cy="5251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250" b="0" spc="45" dirty="0">
                <a:solidFill>
                  <a:srgbClr val="0C5BDB"/>
                </a:solidFill>
                <a:latin typeface="Cambria"/>
                <a:cs typeface="Cambria"/>
              </a:rPr>
              <a:t>Problem</a:t>
            </a:r>
            <a:r>
              <a:rPr sz="3250" b="0" spc="114" dirty="0">
                <a:solidFill>
                  <a:srgbClr val="0C5BDB"/>
                </a:solidFill>
                <a:latin typeface="Cambria"/>
                <a:cs typeface="Cambria"/>
              </a:rPr>
              <a:t> </a:t>
            </a:r>
            <a:r>
              <a:rPr sz="3250" b="0" spc="-10" dirty="0">
                <a:solidFill>
                  <a:srgbClr val="0C5BDB"/>
                </a:solidFill>
                <a:latin typeface="Cambria"/>
                <a:cs typeface="Cambria"/>
              </a:rPr>
              <a:t>statement</a:t>
            </a:r>
            <a:endParaRPr sz="325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3816" y="4117597"/>
            <a:ext cx="9516745" cy="232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6399"/>
              </a:lnSpc>
              <a:spcBef>
                <a:spcPts val="100"/>
              </a:spcBef>
            </a:pP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Poor</a:t>
            </a:r>
            <a:r>
              <a:rPr sz="1850" spc="155" dirty="0">
                <a:solidFill>
                  <a:srgbClr val="595959"/>
                </a:solidFill>
                <a:latin typeface="Arial"/>
                <a:cs typeface="Arial"/>
              </a:rPr>
              <a:t> 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sleep</a:t>
            </a:r>
            <a:r>
              <a:rPr sz="1850" spc="165" dirty="0">
                <a:solidFill>
                  <a:srgbClr val="595959"/>
                </a:solidFill>
                <a:latin typeface="Arial"/>
                <a:cs typeface="Arial"/>
              </a:rPr>
              <a:t> 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quality</a:t>
            </a:r>
            <a:r>
              <a:rPr sz="1850" spc="150" dirty="0">
                <a:solidFill>
                  <a:srgbClr val="595959"/>
                </a:solidFill>
                <a:latin typeface="Arial"/>
                <a:cs typeface="Arial"/>
              </a:rPr>
              <a:t> 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negatively</a:t>
            </a:r>
            <a:r>
              <a:rPr sz="1850" spc="150" dirty="0">
                <a:solidFill>
                  <a:srgbClr val="595959"/>
                </a:solidFill>
                <a:latin typeface="Arial"/>
                <a:cs typeface="Arial"/>
              </a:rPr>
              <a:t> 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affects</a:t>
            </a:r>
            <a:r>
              <a:rPr sz="1850" spc="155" dirty="0">
                <a:solidFill>
                  <a:srgbClr val="595959"/>
                </a:solidFill>
                <a:latin typeface="Arial"/>
                <a:cs typeface="Arial"/>
              </a:rPr>
              <a:t> 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physical</a:t>
            </a:r>
            <a:r>
              <a:rPr sz="1850" spc="160" dirty="0">
                <a:solidFill>
                  <a:srgbClr val="595959"/>
                </a:solidFill>
                <a:latin typeface="Arial"/>
                <a:cs typeface="Arial"/>
              </a:rPr>
              <a:t> 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health,</a:t>
            </a:r>
            <a:r>
              <a:rPr sz="1850" spc="160" dirty="0">
                <a:solidFill>
                  <a:srgbClr val="595959"/>
                </a:solidFill>
                <a:latin typeface="Arial"/>
                <a:cs typeface="Arial"/>
              </a:rPr>
              <a:t> 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mental</a:t>
            </a:r>
            <a:r>
              <a:rPr sz="1850" spc="160" dirty="0">
                <a:solidFill>
                  <a:srgbClr val="595959"/>
                </a:solidFill>
                <a:latin typeface="Arial"/>
                <a:cs typeface="Arial"/>
              </a:rPr>
              <a:t>  </a:t>
            </a:r>
            <a:r>
              <a:rPr sz="1850" spc="-10" dirty="0">
                <a:solidFill>
                  <a:srgbClr val="595959"/>
                </a:solidFill>
                <a:latin typeface="Arial"/>
                <a:cs typeface="Arial"/>
              </a:rPr>
              <a:t>well-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being,</a:t>
            </a:r>
            <a:r>
              <a:rPr sz="1850" spc="160" dirty="0">
                <a:solidFill>
                  <a:srgbClr val="595959"/>
                </a:solidFill>
                <a:latin typeface="Arial"/>
                <a:cs typeface="Arial"/>
              </a:rPr>
              <a:t> 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850" spc="155" dirty="0">
                <a:solidFill>
                  <a:srgbClr val="595959"/>
                </a:solidFill>
                <a:latin typeface="Arial"/>
                <a:cs typeface="Arial"/>
              </a:rPr>
              <a:t>  </a:t>
            </a:r>
            <a:r>
              <a:rPr sz="1850" spc="-10" dirty="0">
                <a:solidFill>
                  <a:srgbClr val="595959"/>
                </a:solidFill>
                <a:latin typeface="Arial"/>
                <a:cs typeface="Arial"/>
              </a:rPr>
              <a:t>daily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productivity.</a:t>
            </a:r>
            <a:r>
              <a:rPr sz="1850" spc="2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Existing</a:t>
            </a:r>
            <a:r>
              <a:rPr sz="1850" spc="2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sleep</a:t>
            </a:r>
            <a:r>
              <a:rPr sz="1850" spc="2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monitoring</a:t>
            </a:r>
            <a:r>
              <a:rPr sz="1850" spc="2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systems</a:t>
            </a:r>
            <a:r>
              <a:rPr sz="1850" spc="2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mainly</a:t>
            </a:r>
            <a:r>
              <a:rPr sz="1850" spc="2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focus</a:t>
            </a:r>
            <a:r>
              <a:rPr sz="1850" spc="2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on</a:t>
            </a:r>
            <a:r>
              <a:rPr sz="1850" spc="2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tracking</a:t>
            </a:r>
            <a:r>
              <a:rPr sz="1850" spc="2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sleep</a:t>
            </a:r>
            <a:r>
              <a:rPr sz="1850" spc="2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sz="1850" spc="2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spc="-25" dirty="0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providing</a:t>
            </a:r>
            <a:r>
              <a:rPr sz="1850" spc="2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reports,</a:t>
            </a:r>
            <a:r>
              <a:rPr sz="1850" spc="2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but</a:t>
            </a:r>
            <a:r>
              <a:rPr sz="1850" spc="2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they</a:t>
            </a:r>
            <a:r>
              <a:rPr sz="1850" spc="2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do</a:t>
            </a:r>
            <a:r>
              <a:rPr sz="1850" spc="2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not</a:t>
            </a:r>
            <a:r>
              <a:rPr sz="1850" spc="2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actively</a:t>
            </a:r>
            <a:r>
              <a:rPr sz="1850" spc="1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improve</a:t>
            </a:r>
            <a:r>
              <a:rPr sz="1850" spc="2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sleep</a:t>
            </a:r>
            <a:r>
              <a:rPr sz="1850" spc="204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conditions.</a:t>
            </a:r>
            <a:r>
              <a:rPr sz="1850" spc="2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Additionally,</a:t>
            </a:r>
            <a:r>
              <a:rPr sz="1850" spc="2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spc="-10" dirty="0">
                <a:solidFill>
                  <a:srgbClr val="595959"/>
                </a:solidFill>
                <a:latin typeface="Arial"/>
                <a:cs typeface="Arial"/>
              </a:rPr>
              <a:t>current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smart</a:t>
            </a:r>
            <a:r>
              <a:rPr sz="1850" spc="3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home</a:t>
            </a:r>
            <a:r>
              <a:rPr sz="1850" spc="3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systems</a:t>
            </a:r>
            <a:r>
              <a:rPr sz="1850" spc="3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operate</a:t>
            </a:r>
            <a:r>
              <a:rPr sz="1850" spc="3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sz="1850" spc="3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static</a:t>
            </a:r>
            <a:r>
              <a:rPr sz="1850" spc="3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or</a:t>
            </a:r>
            <a:r>
              <a:rPr sz="1850" spc="3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manual</a:t>
            </a:r>
            <a:r>
              <a:rPr sz="1850" spc="3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control</a:t>
            </a:r>
            <a:r>
              <a:rPr sz="1850" spc="3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850" spc="3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do</a:t>
            </a:r>
            <a:r>
              <a:rPr sz="1850" spc="3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not</a:t>
            </a:r>
            <a:r>
              <a:rPr sz="1850" spc="3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adapt</a:t>
            </a:r>
            <a:r>
              <a:rPr sz="1850" spc="3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based</a:t>
            </a:r>
            <a:r>
              <a:rPr sz="1850" spc="3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spc="-25" dirty="0">
                <a:solidFill>
                  <a:srgbClr val="595959"/>
                </a:solidFill>
                <a:latin typeface="Arial"/>
                <a:cs typeface="Arial"/>
              </a:rPr>
              <a:t>on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individual</a:t>
            </a:r>
            <a:r>
              <a:rPr sz="1850" spc="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sleep</a:t>
            </a:r>
            <a:r>
              <a:rPr sz="1850" spc="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patterns</a:t>
            </a:r>
            <a:r>
              <a:rPr sz="1850" spc="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or</a:t>
            </a:r>
            <a:r>
              <a:rPr sz="1850" spc="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biometric</a:t>
            </a:r>
            <a:r>
              <a:rPr sz="1850" spc="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data.</a:t>
            </a:r>
            <a:r>
              <a:rPr sz="1850" spc="1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Therefore,</a:t>
            </a:r>
            <a:r>
              <a:rPr sz="1850" spc="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there</a:t>
            </a:r>
            <a:r>
              <a:rPr sz="1850" spc="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1850" spc="1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50" spc="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need</a:t>
            </a:r>
            <a:r>
              <a:rPr sz="1850" spc="1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1850" spc="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50" spc="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b="1" dirty="0">
                <a:solidFill>
                  <a:srgbClr val="595959"/>
                </a:solidFill>
                <a:latin typeface="Arial"/>
                <a:cs typeface="Arial"/>
              </a:rPr>
              <a:t>cost-</a:t>
            </a:r>
            <a:r>
              <a:rPr sz="1850" b="1" spc="-10" dirty="0">
                <a:solidFill>
                  <a:srgbClr val="595959"/>
                </a:solidFill>
                <a:latin typeface="Arial"/>
                <a:cs typeface="Arial"/>
              </a:rPr>
              <a:t>effective </a:t>
            </a:r>
            <a:r>
              <a:rPr sz="1850" b="1" dirty="0">
                <a:solidFill>
                  <a:srgbClr val="595959"/>
                </a:solidFill>
                <a:latin typeface="Arial"/>
                <a:cs typeface="Arial"/>
              </a:rPr>
              <a:t>IoT-based</a:t>
            </a:r>
            <a:r>
              <a:rPr sz="1850" b="1" spc="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b="1" dirty="0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r>
              <a:rPr sz="1850" b="1" spc="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that</a:t>
            </a:r>
            <a:r>
              <a:rPr sz="1850" spc="1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continuously</a:t>
            </a:r>
            <a:r>
              <a:rPr sz="1850" spc="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monitors</a:t>
            </a:r>
            <a:r>
              <a:rPr sz="1850" spc="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sleep-related</a:t>
            </a:r>
            <a:r>
              <a:rPr sz="1850" spc="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parameters</a:t>
            </a:r>
            <a:r>
              <a:rPr sz="1850" spc="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850" spc="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spc="-10" dirty="0">
                <a:solidFill>
                  <a:srgbClr val="595959"/>
                </a:solidFill>
                <a:latin typeface="Arial"/>
                <a:cs typeface="Arial"/>
              </a:rPr>
              <a:t>automatically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optimizes</a:t>
            </a:r>
            <a:r>
              <a:rPr sz="1850" spc="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850" spc="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sleeping</a:t>
            </a:r>
            <a:r>
              <a:rPr sz="1850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environment</a:t>
            </a:r>
            <a:r>
              <a:rPr sz="1850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50" spc="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enhance</a:t>
            </a:r>
            <a:r>
              <a:rPr sz="1850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overall</a:t>
            </a:r>
            <a:r>
              <a:rPr sz="1850" spc="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sleep</a:t>
            </a:r>
            <a:r>
              <a:rPr sz="1850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spc="-10" dirty="0">
                <a:solidFill>
                  <a:srgbClr val="595959"/>
                </a:solidFill>
                <a:latin typeface="Arial"/>
                <a:cs typeface="Arial"/>
              </a:rPr>
              <a:t>quality.</a:t>
            </a:r>
            <a:endParaRPr sz="185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4560" y="1566672"/>
            <a:ext cx="6393179" cy="223570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247" y="882396"/>
            <a:ext cx="941831" cy="108051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20" dirty="0"/>
              <a:t>5</a:t>
            </a:fld>
            <a:r>
              <a:rPr spc="-20" dirty="0"/>
              <a:t>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561" rIns="0" bIns="0" rtlCol="0">
            <a:spAutoFit/>
          </a:bodyPr>
          <a:lstStyle/>
          <a:p>
            <a:pPr marL="972185">
              <a:lnSpc>
                <a:spcPct val="100000"/>
              </a:lnSpc>
              <a:spcBef>
                <a:spcPts val="125"/>
              </a:spcBef>
            </a:pPr>
            <a:r>
              <a:rPr sz="2900" b="0" dirty="0">
                <a:solidFill>
                  <a:srgbClr val="4285F4"/>
                </a:solidFill>
                <a:latin typeface="Times New Roman"/>
                <a:cs typeface="Times New Roman"/>
              </a:rPr>
              <a:t>Existing</a:t>
            </a:r>
            <a:r>
              <a:rPr sz="2900" b="0" spc="50" dirty="0">
                <a:solidFill>
                  <a:srgbClr val="4285F4"/>
                </a:solidFill>
                <a:latin typeface="Times New Roman"/>
                <a:cs typeface="Times New Roman"/>
              </a:rPr>
              <a:t> </a:t>
            </a:r>
            <a:r>
              <a:rPr sz="2900" b="0" spc="-10" dirty="0">
                <a:solidFill>
                  <a:srgbClr val="4285F4"/>
                </a:solidFill>
                <a:latin typeface="Times New Roman"/>
                <a:cs typeface="Times New Roman"/>
              </a:rPr>
              <a:t>System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7504" y="2104432"/>
            <a:ext cx="8572500" cy="388874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850" b="1" spc="-10" dirty="0">
                <a:solidFill>
                  <a:srgbClr val="595959"/>
                </a:solidFill>
                <a:latin typeface="Arial"/>
                <a:cs typeface="Arial"/>
              </a:rPr>
              <a:t>Description</a:t>
            </a:r>
            <a:endParaRPr sz="1850">
              <a:latin typeface="Arial"/>
              <a:cs typeface="Arial"/>
            </a:endParaRPr>
          </a:p>
          <a:p>
            <a:pPr marL="12700" marR="5080">
              <a:lnSpc>
                <a:spcPct val="101299"/>
              </a:lnSpc>
              <a:spcBef>
                <a:spcPts val="465"/>
              </a:spcBef>
            </a:pP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Existing</a:t>
            </a:r>
            <a:r>
              <a:rPr sz="1850" spc="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sleep</a:t>
            </a:r>
            <a:r>
              <a:rPr sz="1850" spc="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monitoring</a:t>
            </a:r>
            <a:r>
              <a:rPr sz="1850" spc="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systems</a:t>
            </a:r>
            <a:r>
              <a:rPr sz="1850" spc="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mainly</a:t>
            </a:r>
            <a:r>
              <a:rPr sz="1850" spc="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focus</a:t>
            </a:r>
            <a:r>
              <a:rPr sz="1850" spc="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on</a:t>
            </a:r>
            <a:r>
              <a:rPr sz="1850" spc="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b="1" dirty="0">
                <a:solidFill>
                  <a:srgbClr val="595959"/>
                </a:solidFill>
                <a:latin typeface="Arial"/>
                <a:cs typeface="Arial"/>
              </a:rPr>
              <a:t>tracking</a:t>
            </a:r>
            <a:r>
              <a:rPr sz="1850" b="1" spc="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b="1" dirty="0">
                <a:solidFill>
                  <a:srgbClr val="595959"/>
                </a:solidFill>
                <a:latin typeface="Arial"/>
                <a:cs typeface="Arial"/>
              </a:rPr>
              <a:t>sleep</a:t>
            </a:r>
            <a:r>
              <a:rPr sz="1850" b="1" spc="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b="1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sz="1850" b="1" spc="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such</a:t>
            </a:r>
            <a:r>
              <a:rPr sz="1850" spc="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spc="-25" dirty="0">
                <a:solidFill>
                  <a:srgbClr val="595959"/>
                </a:solidFill>
                <a:latin typeface="Arial"/>
                <a:cs typeface="Arial"/>
              </a:rPr>
              <a:t>as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heart</a:t>
            </a:r>
            <a:r>
              <a:rPr sz="1850" spc="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rate</a:t>
            </a:r>
            <a:r>
              <a:rPr sz="1850" spc="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or</a:t>
            </a:r>
            <a:r>
              <a:rPr sz="1850" spc="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movement.</a:t>
            </a:r>
            <a:r>
              <a:rPr sz="1850" spc="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Smart</a:t>
            </a:r>
            <a:r>
              <a:rPr sz="1850" spc="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home</a:t>
            </a:r>
            <a:r>
              <a:rPr sz="1850" spc="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systems</a:t>
            </a:r>
            <a:r>
              <a:rPr sz="1850" spc="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provide</a:t>
            </a:r>
            <a:r>
              <a:rPr sz="1850" spc="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b="1" dirty="0">
                <a:solidFill>
                  <a:srgbClr val="595959"/>
                </a:solidFill>
                <a:latin typeface="Arial"/>
                <a:cs typeface="Arial"/>
              </a:rPr>
              <a:t>manual</a:t>
            </a:r>
            <a:r>
              <a:rPr sz="1850" b="1" spc="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b="1" dirty="0">
                <a:solidFill>
                  <a:srgbClr val="595959"/>
                </a:solidFill>
                <a:latin typeface="Arial"/>
                <a:cs typeface="Arial"/>
              </a:rPr>
              <a:t>or</a:t>
            </a:r>
            <a:r>
              <a:rPr sz="1850" b="1" spc="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b="1" dirty="0">
                <a:solidFill>
                  <a:srgbClr val="595959"/>
                </a:solidFill>
                <a:latin typeface="Arial"/>
                <a:cs typeface="Arial"/>
              </a:rPr>
              <a:t>preset</a:t>
            </a:r>
            <a:r>
              <a:rPr sz="1850" b="1" spc="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b="1" spc="-10" dirty="0">
                <a:solidFill>
                  <a:srgbClr val="595959"/>
                </a:solidFill>
                <a:latin typeface="Arial"/>
                <a:cs typeface="Arial"/>
              </a:rPr>
              <a:t>control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850" spc="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devices like</a:t>
            </a:r>
            <a:r>
              <a:rPr sz="1850" spc="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lights</a:t>
            </a:r>
            <a:r>
              <a:rPr sz="1850" spc="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850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spc="-20" dirty="0">
                <a:solidFill>
                  <a:srgbClr val="595959"/>
                </a:solidFill>
                <a:latin typeface="Arial"/>
                <a:cs typeface="Arial"/>
              </a:rPr>
              <a:t>fans.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50" b="1" spc="-10" dirty="0">
                <a:solidFill>
                  <a:srgbClr val="595959"/>
                </a:solidFill>
                <a:latin typeface="Arial"/>
                <a:cs typeface="Arial"/>
              </a:rPr>
              <a:t>Disadvantages</a:t>
            </a:r>
            <a:endParaRPr sz="1850">
              <a:latin typeface="Arial"/>
              <a:cs typeface="Arial"/>
            </a:endParaRPr>
          </a:p>
          <a:p>
            <a:pPr marL="413384" indent="-400685">
              <a:lnSpc>
                <a:spcPct val="100000"/>
              </a:lnSpc>
              <a:spcBef>
                <a:spcPts val="360"/>
              </a:spcBef>
              <a:buSzPct val="113513"/>
              <a:buChar char="●"/>
              <a:tabLst>
                <a:tab pos="413384" algn="l"/>
              </a:tabLst>
            </a:pP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Only</a:t>
            </a:r>
            <a:r>
              <a:rPr sz="1850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monitors</a:t>
            </a:r>
            <a:r>
              <a:rPr sz="1850" spc="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sleep,</a:t>
            </a:r>
            <a:r>
              <a:rPr sz="1850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b="1" dirty="0">
                <a:solidFill>
                  <a:srgbClr val="595959"/>
                </a:solidFill>
                <a:latin typeface="Arial"/>
                <a:cs typeface="Arial"/>
              </a:rPr>
              <a:t>no</a:t>
            </a:r>
            <a:r>
              <a:rPr sz="1850" b="1" spc="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b="1" dirty="0">
                <a:solidFill>
                  <a:srgbClr val="595959"/>
                </a:solidFill>
                <a:latin typeface="Arial"/>
                <a:cs typeface="Arial"/>
              </a:rPr>
              <a:t>automatic</a:t>
            </a:r>
            <a:r>
              <a:rPr sz="1850" b="1" spc="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b="1" spc="-10" dirty="0">
                <a:solidFill>
                  <a:srgbClr val="595959"/>
                </a:solidFill>
                <a:latin typeface="Arial"/>
                <a:cs typeface="Arial"/>
              </a:rPr>
              <a:t>improvement</a:t>
            </a:r>
            <a:endParaRPr sz="1850">
              <a:latin typeface="Arial"/>
              <a:cs typeface="Arial"/>
            </a:endParaRPr>
          </a:p>
          <a:p>
            <a:pPr marL="413384" indent="-400685">
              <a:lnSpc>
                <a:spcPct val="100000"/>
              </a:lnSpc>
              <a:spcBef>
                <a:spcPts val="360"/>
              </a:spcBef>
              <a:buSzPct val="113513"/>
              <a:buChar char="●"/>
              <a:tabLst>
                <a:tab pos="413384" algn="l"/>
              </a:tabLst>
            </a:pP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Uses</a:t>
            </a:r>
            <a:r>
              <a:rPr sz="1850" spc="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b="1" dirty="0">
                <a:solidFill>
                  <a:srgbClr val="595959"/>
                </a:solidFill>
                <a:latin typeface="Arial"/>
                <a:cs typeface="Arial"/>
              </a:rPr>
              <a:t>static</a:t>
            </a:r>
            <a:r>
              <a:rPr sz="1850" b="1" spc="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b="1" dirty="0">
                <a:solidFill>
                  <a:srgbClr val="595959"/>
                </a:solidFill>
                <a:latin typeface="Arial"/>
                <a:cs typeface="Arial"/>
              </a:rPr>
              <a:t>or</a:t>
            </a:r>
            <a:r>
              <a:rPr sz="1850" b="1" spc="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b="1" dirty="0">
                <a:solidFill>
                  <a:srgbClr val="595959"/>
                </a:solidFill>
                <a:latin typeface="Arial"/>
                <a:cs typeface="Arial"/>
              </a:rPr>
              <a:t>manual</a:t>
            </a:r>
            <a:r>
              <a:rPr sz="1850" b="1" spc="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b="1" spc="-10" dirty="0">
                <a:solidFill>
                  <a:srgbClr val="595959"/>
                </a:solidFill>
                <a:latin typeface="Arial"/>
                <a:cs typeface="Arial"/>
              </a:rPr>
              <a:t>control</a:t>
            </a:r>
            <a:endParaRPr sz="1850">
              <a:latin typeface="Arial"/>
              <a:cs typeface="Arial"/>
            </a:endParaRPr>
          </a:p>
          <a:p>
            <a:pPr marL="413384" indent="-400685">
              <a:lnSpc>
                <a:spcPct val="100000"/>
              </a:lnSpc>
              <a:spcBef>
                <a:spcPts val="375"/>
              </a:spcBef>
              <a:buSzPct val="113513"/>
              <a:buChar char="●"/>
              <a:tabLst>
                <a:tab pos="413384" algn="l"/>
              </a:tabLst>
            </a:pP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No</a:t>
            </a:r>
            <a:r>
              <a:rPr sz="1850" spc="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personalization</a:t>
            </a:r>
            <a:r>
              <a:rPr sz="1850" spc="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1850" spc="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individual</a:t>
            </a:r>
            <a:r>
              <a:rPr sz="1850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spc="-10" dirty="0">
                <a:solidFill>
                  <a:srgbClr val="595959"/>
                </a:solidFill>
                <a:latin typeface="Arial"/>
                <a:cs typeface="Arial"/>
              </a:rPr>
              <a:t>users</a:t>
            </a:r>
            <a:endParaRPr sz="1850">
              <a:latin typeface="Arial"/>
              <a:cs typeface="Arial"/>
            </a:endParaRPr>
          </a:p>
          <a:p>
            <a:pPr marL="413384" indent="-400685">
              <a:lnSpc>
                <a:spcPct val="100000"/>
              </a:lnSpc>
              <a:spcBef>
                <a:spcPts val="355"/>
              </a:spcBef>
              <a:buSzPct val="113513"/>
              <a:buChar char="●"/>
              <a:tabLst>
                <a:tab pos="413384" algn="l"/>
              </a:tabLst>
            </a:pP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Cannot</a:t>
            </a:r>
            <a:r>
              <a:rPr sz="1850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predict</a:t>
            </a:r>
            <a:r>
              <a:rPr sz="1850" spc="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or</a:t>
            </a:r>
            <a:r>
              <a:rPr sz="1850" spc="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prevent</a:t>
            </a:r>
            <a:r>
              <a:rPr sz="1850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sleep</a:t>
            </a:r>
            <a:r>
              <a:rPr sz="1850" spc="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spc="-10" dirty="0">
                <a:solidFill>
                  <a:srgbClr val="595959"/>
                </a:solidFill>
                <a:latin typeface="Arial"/>
                <a:cs typeface="Arial"/>
              </a:rPr>
              <a:t>disturbances</a:t>
            </a:r>
            <a:endParaRPr sz="1850">
              <a:latin typeface="Arial"/>
              <a:cs typeface="Arial"/>
            </a:endParaRPr>
          </a:p>
          <a:p>
            <a:pPr marL="413384" indent="-400685">
              <a:lnSpc>
                <a:spcPct val="100000"/>
              </a:lnSpc>
              <a:spcBef>
                <a:spcPts val="365"/>
              </a:spcBef>
              <a:buSzPct val="113513"/>
              <a:buChar char="●"/>
              <a:tabLst>
                <a:tab pos="413384" algn="l"/>
              </a:tabLst>
            </a:pP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Medical</a:t>
            </a:r>
            <a:r>
              <a:rPr sz="1850" spc="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sleep</a:t>
            </a:r>
            <a:r>
              <a:rPr sz="1850" spc="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systems</a:t>
            </a:r>
            <a:r>
              <a:rPr sz="1850" spc="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are</a:t>
            </a:r>
            <a:r>
              <a:rPr sz="1850" spc="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b="1" dirty="0">
                <a:solidFill>
                  <a:srgbClr val="595959"/>
                </a:solidFill>
                <a:latin typeface="Arial"/>
                <a:cs typeface="Arial"/>
              </a:rPr>
              <a:t>expensive</a:t>
            </a:r>
            <a:r>
              <a:rPr sz="1850" b="1" spc="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b="1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850" b="1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b="1" spc="-10" dirty="0">
                <a:solidFill>
                  <a:srgbClr val="595959"/>
                </a:solidFill>
                <a:latin typeface="Arial"/>
                <a:cs typeface="Arial"/>
              </a:rPr>
              <a:t>intrusive</a:t>
            </a:r>
            <a:endParaRPr sz="1850">
              <a:latin typeface="Arial"/>
              <a:cs typeface="Arial"/>
            </a:endParaRPr>
          </a:p>
          <a:p>
            <a:pPr marL="413384" indent="-400685">
              <a:lnSpc>
                <a:spcPct val="100000"/>
              </a:lnSpc>
              <a:spcBef>
                <a:spcPts val="370"/>
              </a:spcBef>
              <a:buSzPct val="113513"/>
              <a:buChar char="●"/>
              <a:tabLst>
                <a:tab pos="413384" algn="l"/>
              </a:tabLst>
            </a:pP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Limited</a:t>
            </a:r>
            <a:r>
              <a:rPr sz="1850" spc="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integration</a:t>
            </a:r>
            <a:r>
              <a:rPr sz="1850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between</a:t>
            </a:r>
            <a:r>
              <a:rPr sz="1850" spc="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sleep</a:t>
            </a:r>
            <a:r>
              <a:rPr sz="1850" spc="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sz="1850" spc="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850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dirty="0">
                <a:solidFill>
                  <a:srgbClr val="595959"/>
                </a:solidFill>
                <a:latin typeface="Arial"/>
                <a:cs typeface="Arial"/>
              </a:rPr>
              <a:t>environment</a:t>
            </a:r>
            <a:r>
              <a:rPr sz="1850" spc="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50" spc="-10" dirty="0">
                <a:solidFill>
                  <a:srgbClr val="595959"/>
                </a:solidFill>
                <a:latin typeface="Arial"/>
                <a:cs typeface="Arial"/>
              </a:rPr>
              <a:t>control</a:t>
            </a:r>
            <a:endParaRPr sz="185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204" y="882396"/>
            <a:ext cx="935735" cy="108051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20" dirty="0"/>
              <a:t>6</a:t>
            </a:fld>
            <a:r>
              <a:rPr spc="-20" dirty="0"/>
              <a:t>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561" rIns="0" bIns="0" rtlCol="0">
            <a:spAutoFit/>
          </a:bodyPr>
          <a:lstStyle/>
          <a:p>
            <a:pPr marL="901065">
              <a:lnSpc>
                <a:spcPct val="100000"/>
              </a:lnSpc>
              <a:spcBef>
                <a:spcPts val="125"/>
              </a:spcBef>
            </a:pPr>
            <a:r>
              <a:rPr sz="2900" b="0" dirty="0">
                <a:solidFill>
                  <a:srgbClr val="4285F4"/>
                </a:solidFill>
                <a:latin typeface="Times New Roman"/>
                <a:cs typeface="Times New Roman"/>
              </a:rPr>
              <a:t>Proposed</a:t>
            </a:r>
            <a:r>
              <a:rPr sz="2900" b="0" spc="10" dirty="0">
                <a:solidFill>
                  <a:srgbClr val="4285F4"/>
                </a:solidFill>
                <a:latin typeface="Times New Roman"/>
                <a:cs typeface="Times New Roman"/>
              </a:rPr>
              <a:t> </a:t>
            </a:r>
            <a:r>
              <a:rPr sz="2900" b="0" spc="-10" dirty="0">
                <a:solidFill>
                  <a:srgbClr val="4285F4"/>
                </a:solidFill>
                <a:latin typeface="Times New Roman"/>
                <a:cs typeface="Times New Roman"/>
              </a:rPr>
              <a:t>System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2268" y="2192518"/>
            <a:ext cx="8536940" cy="35001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2335"/>
              </a:lnSpc>
              <a:spcBef>
                <a:spcPts val="90"/>
              </a:spcBef>
            </a:pPr>
            <a:r>
              <a:rPr sz="2000" b="1" spc="-10" dirty="0">
                <a:solidFill>
                  <a:srgbClr val="595959"/>
                </a:solidFill>
                <a:latin typeface="Arial"/>
                <a:cs typeface="Arial"/>
              </a:rPr>
              <a:t>Description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ts val="2270"/>
              </a:lnSpc>
              <a:spcBef>
                <a:spcPts val="120"/>
              </a:spcBef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20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proposed</a:t>
            </a: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r>
              <a:rPr sz="20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20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an</a:t>
            </a:r>
            <a:r>
              <a:rPr sz="20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595959"/>
                </a:solidFill>
                <a:latin typeface="Arial"/>
                <a:cs typeface="Arial"/>
              </a:rPr>
              <a:t>IoT-</a:t>
            </a:r>
            <a:r>
              <a:rPr sz="2000" b="1" dirty="0">
                <a:solidFill>
                  <a:srgbClr val="595959"/>
                </a:solidFill>
                <a:latin typeface="Arial"/>
                <a:cs typeface="Arial"/>
              </a:rPr>
              <a:t>powered</a:t>
            </a:r>
            <a:r>
              <a:rPr sz="2000" b="1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95959"/>
                </a:solidFill>
                <a:latin typeface="Arial"/>
                <a:cs typeface="Arial"/>
              </a:rPr>
              <a:t>adaptive</a:t>
            </a:r>
            <a:r>
              <a:rPr sz="20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95959"/>
                </a:solidFill>
                <a:latin typeface="Arial"/>
                <a:cs typeface="Arial"/>
              </a:rPr>
              <a:t>sleep</a:t>
            </a:r>
            <a:r>
              <a:rPr sz="2000" b="1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95959"/>
                </a:solidFill>
                <a:latin typeface="Arial"/>
                <a:cs typeface="Arial"/>
              </a:rPr>
              <a:t>environment</a:t>
            </a:r>
            <a:r>
              <a:rPr sz="2000" b="1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Arial"/>
                <a:cs typeface="Arial"/>
              </a:rPr>
              <a:t>that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continuously</a:t>
            </a:r>
            <a:r>
              <a:rPr sz="20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monitors</a:t>
            </a:r>
            <a:r>
              <a:rPr sz="20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biometric</a:t>
            </a:r>
            <a:r>
              <a:rPr sz="20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sz="20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2000" spc="-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595959"/>
                </a:solidFill>
                <a:latin typeface="Arial"/>
                <a:cs typeface="Arial"/>
              </a:rPr>
              <a:t>automatically</a:t>
            </a:r>
            <a:r>
              <a:rPr sz="2000" b="1" spc="-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95959"/>
                </a:solidFill>
                <a:latin typeface="Arial"/>
                <a:cs typeface="Arial"/>
              </a:rPr>
              <a:t>adjusts</a:t>
            </a:r>
            <a:r>
              <a:rPr sz="2000" b="1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2000" b="1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595959"/>
                </a:solidFill>
                <a:latin typeface="Arial"/>
                <a:cs typeface="Arial"/>
              </a:rPr>
              <a:t>sleep environment</a:t>
            </a:r>
            <a:r>
              <a:rPr sz="20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using</a:t>
            </a:r>
            <a:r>
              <a:rPr sz="20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cloud</a:t>
            </a:r>
            <a:r>
              <a:rPr sz="20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intelligence.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2335"/>
              </a:lnSpc>
              <a:spcBef>
                <a:spcPts val="2075"/>
              </a:spcBef>
            </a:pPr>
            <a:r>
              <a:rPr sz="2000" b="1" spc="-10" dirty="0">
                <a:solidFill>
                  <a:srgbClr val="595959"/>
                </a:solidFill>
                <a:latin typeface="Arial"/>
                <a:cs typeface="Arial"/>
              </a:rPr>
              <a:t>Advantages</a:t>
            </a:r>
            <a:endParaRPr sz="2000">
              <a:latin typeface="Arial"/>
              <a:cs typeface="Arial"/>
            </a:endParaRPr>
          </a:p>
          <a:p>
            <a:pPr marL="413384" indent="-400685">
              <a:lnSpc>
                <a:spcPts val="2270"/>
              </a:lnSpc>
              <a:buSzPct val="105000"/>
              <a:buChar char="●"/>
              <a:tabLst>
                <a:tab pos="413384" algn="l"/>
              </a:tabLst>
            </a:pPr>
            <a:r>
              <a:rPr sz="2000" spc="-20" dirty="0">
                <a:solidFill>
                  <a:srgbClr val="595959"/>
                </a:solidFill>
                <a:latin typeface="Arial"/>
                <a:cs typeface="Arial"/>
              </a:rPr>
              <a:t>Real-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time</a:t>
            </a:r>
            <a:r>
              <a:rPr sz="20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monitoring</a:t>
            </a:r>
            <a:r>
              <a:rPr sz="20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20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biometric</a:t>
            </a:r>
            <a:r>
              <a:rPr sz="20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20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environmental</a:t>
            </a: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endParaRPr sz="2000">
              <a:latin typeface="Arial"/>
              <a:cs typeface="Arial"/>
            </a:endParaRPr>
          </a:p>
          <a:p>
            <a:pPr marL="413384" indent="-400685">
              <a:lnSpc>
                <a:spcPts val="2270"/>
              </a:lnSpc>
              <a:buSzPct val="105000"/>
              <a:buChar char="●"/>
              <a:tabLst>
                <a:tab pos="413384" algn="l"/>
              </a:tabLst>
            </a:pP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Automatically</a:t>
            </a:r>
            <a:r>
              <a:rPr sz="20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controls</a:t>
            </a:r>
            <a:r>
              <a:rPr sz="20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lighting,</a:t>
            </a:r>
            <a:r>
              <a:rPr sz="20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airflow,</a:t>
            </a:r>
            <a:r>
              <a:rPr sz="2000" spc="-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20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temperature</a:t>
            </a:r>
            <a:endParaRPr sz="2000">
              <a:latin typeface="Arial"/>
              <a:cs typeface="Arial"/>
            </a:endParaRPr>
          </a:p>
          <a:p>
            <a:pPr marL="413384" indent="-400685">
              <a:lnSpc>
                <a:spcPts val="2270"/>
              </a:lnSpc>
              <a:buSzPct val="105000"/>
              <a:buChar char="●"/>
              <a:tabLst>
                <a:tab pos="413384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Creates</a:t>
            </a:r>
            <a:r>
              <a:rPr sz="20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595959"/>
                </a:solidFill>
                <a:latin typeface="Arial"/>
                <a:cs typeface="Arial"/>
              </a:rPr>
              <a:t>personalized</a:t>
            </a:r>
            <a:r>
              <a:rPr sz="20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595959"/>
                </a:solidFill>
                <a:latin typeface="Arial"/>
                <a:cs typeface="Arial"/>
              </a:rPr>
              <a:t>sleep</a:t>
            </a:r>
            <a:r>
              <a:rPr sz="20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595959"/>
                </a:solidFill>
                <a:latin typeface="Arial"/>
                <a:cs typeface="Arial"/>
              </a:rPr>
              <a:t>profiles</a:t>
            </a:r>
            <a:endParaRPr sz="2000">
              <a:latin typeface="Arial"/>
              <a:cs typeface="Arial"/>
            </a:endParaRPr>
          </a:p>
          <a:p>
            <a:pPr marL="413384" indent="-400685">
              <a:lnSpc>
                <a:spcPts val="2270"/>
              </a:lnSpc>
              <a:buSzPct val="105000"/>
              <a:buChar char="●"/>
              <a:tabLst>
                <a:tab pos="413384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Predicts</a:t>
            </a:r>
            <a:r>
              <a:rPr sz="2000" spc="-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sleep</a:t>
            </a:r>
            <a:r>
              <a:rPr sz="2000" spc="-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disturbances</a:t>
            </a:r>
            <a:r>
              <a:rPr sz="20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20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provides</a:t>
            </a:r>
            <a:r>
              <a:rPr sz="2000" spc="-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alerts</a:t>
            </a:r>
            <a:endParaRPr sz="2000">
              <a:latin typeface="Arial"/>
              <a:cs typeface="Arial"/>
            </a:endParaRPr>
          </a:p>
          <a:p>
            <a:pPr marL="413384" indent="-400685">
              <a:lnSpc>
                <a:spcPts val="2270"/>
              </a:lnSpc>
              <a:buSzPct val="105000"/>
              <a:buChar char="●"/>
              <a:tabLst>
                <a:tab pos="413384" algn="l"/>
              </a:tabLst>
            </a:pP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Cost-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effective</a:t>
            </a:r>
            <a:r>
              <a:rPr sz="20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20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suitable</a:t>
            </a:r>
            <a:r>
              <a:rPr sz="20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20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home</a:t>
            </a:r>
            <a:r>
              <a:rPr sz="20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595959"/>
                </a:solidFill>
                <a:latin typeface="Arial"/>
                <a:cs typeface="Arial"/>
              </a:rPr>
              <a:t>use</a:t>
            </a:r>
            <a:endParaRPr sz="2000">
              <a:latin typeface="Arial"/>
              <a:cs typeface="Arial"/>
            </a:endParaRPr>
          </a:p>
          <a:p>
            <a:pPr marL="413384" indent="-400685">
              <a:lnSpc>
                <a:spcPts val="2335"/>
              </a:lnSpc>
              <a:buSzPct val="105000"/>
              <a:buChar char="●"/>
              <a:tabLst>
                <a:tab pos="413384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Fully</a:t>
            </a:r>
            <a:r>
              <a:rPr sz="20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integrated</a:t>
            </a:r>
            <a:r>
              <a:rPr sz="20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IoT,</a:t>
            </a:r>
            <a:r>
              <a:rPr sz="20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cloud,</a:t>
            </a:r>
            <a:r>
              <a:rPr sz="20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20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595959"/>
                </a:solidFill>
                <a:latin typeface="Arial"/>
                <a:cs typeface="Arial"/>
              </a:rPr>
              <a:t>mobile-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based</a:t>
            </a:r>
            <a:r>
              <a:rPr sz="20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solution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39" y="905255"/>
            <a:ext cx="935735" cy="108051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116887" y="6448425"/>
            <a:ext cx="565150" cy="1769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50" spc="-50" dirty="0">
                <a:solidFill>
                  <a:srgbClr val="595959"/>
                </a:solidFill>
                <a:latin typeface="Arial"/>
                <a:cs typeface="Arial"/>
              </a:rPr>
              <a:t>7</a:t>
            </a:r>
            <a:r>
              <a:rPr lang="en-IN" sz="1150" spc="-50" dirty="0">
                <a:solidFill>
                  <a:srgbClr val="595959"/>
                </a:solidFill>
                <a:latin typeface="Arial"/>
                <a:cs typeface="Arial"/>
              </a:rPr>
              <a:t>/13</a:t>
            </a:r>
            <a:endParaRPr sz="11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164" rIns="0" bIns="0" rtlCol="0">
            <a:spAutoFit/>
          </a:bodyPr>
          <a:lstStyle/>
          <a:p>
            <a:pPr marL="655320">
              <a:lnSpc>
                <a:spcPct val="100000"/>
              </a:lnSpc>
              <a:spcBef>
                <a:spcPts val="135"/>
              </a:spcBef>
            </a:pPr>
            <a:r>
              <a:rPr sz="2650" b="0" spc="55" dirty="0">
                <a:solidFill>
                  <a:srgbClr val="0C5BDB"/>
                </a:solidFill>
                <a:latin typeface="Cambria"/>
                <a:cs typeface="Cambria"/>
              </a:rPr>
              <a:t>System</a:t>
            </a:r>
            <a:r>
              <a:rPr sz="2650" b="0" spc="100" dirty="0">
                <a:solidFill>
                  <a:srgbClr val="0C5BDB"/>
                </a:solidFill>
                <a:latin typeface="Cambria"/>
                <a:cs typeface="Cambria"/>
              </a:rPr>
              <a:t> </a:t>
            </a:r>
            <a:r>
              <a:rPr sz="2650" b="0" spc="35" dirty="0">
                <a:solidFill>
                  <a:srgbClr val="0C5BDB"/>
                </a:solidFill>
                <a:latin typeface="Cambria"/>
                <a:cs typeface="Cambria"/>
              </a:rPr>
              <a:t>Architecture</a:t>
            </a:r>
            <a:endParaRPr sz="2650">
              <a:latin typeface="Cambria"/>
              <a:cs typeface="Cambr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51" y="882396"/>
            <a:ext cx="943356" cy="108051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2231" y="2106167"/>
            <a:ext cx="10027920" cy="416051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20" dirty="0"/>
              <a:t>8</a:t>
            </a:fld>
            <a:r>
              <a:rPr spc="-20" dirty="0"/>
              <a:t>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5687" rIns="0" bIns="0" rtlCol="0">
            <a:spAutoFit/>
          </a:bodyPr>
          <a:lstStyle/>
          <a:p>
            <a:pPr marL="916305">
              <a:lnSpc>
                <a:spcPct val="100000"/>
              </a:lnSpc>
              <a:spcBef>
                <a:spcPts val="125"/>
              </a:spcBef>
            </a:pPr>
            <a:r>
              <a:rPr sz="3250" b="0" spc="-10" dirty="0">
                <a:solidFill>
                  <a:srgbClr val="0C5BDB"/>
                </a:solidFill>
                <a:latin typeface="Cambria"/>
                <a:cs typeface="Cambria"/>
              </a:rPr>
              <a:t>Requirements</a:t>
            </a:r>
            <a:endParaRPr sz="3250">
              <a:latin typeface="Cambria"/>
              <a:cs typeface="Cambr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676" y="786383"/>
            <a:ext cx="941831" cy="108051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6863" y="2168651"/>
            <a:ext cx="9090660" cy="3758183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09244" y="2161031"/>
          <a:ext cx="9090660" cy="3756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45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4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6110">
                <a:tc>
                  <a:txBody>
                    <a:bodyPr/>
                    <a:lstStyle/>
                    <a:p>
                      <a:pPr marL="1080135">
                        <a:lnSpc>
                          <a:spcPct val="100000"/>
                        </a:lnSpc>
                        <a:spcBef>
                          <a:spcPts val="148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Hardware</a:t>
                      </a:r>
                      <a:r>
                        <a:rPr sz="1600" b="1" spc="1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Requirements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885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3790">
                        <a:lnSpc>
                          <a:spcPct val="100000"/>
                        </a:lnSpc>
                        <a:spcBef>
                          <a:spcPts val="148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Software</a:t>
                      </a:r>
                      <a:r>
                        <a:rPr sz="1600" b="1" spc="114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Requirements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885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Laptop</a:t>
                      </a:r>
                      <a:r>
                        <a:rPr sz="16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1600" spc="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PC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27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Operating</a:t>
                      </a:r>
                      <a:r>
                        <a:rPr sz="1600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System:</a:t>
                      </a:r>
                      <a:r>
                        <a:rPr sz="1600" spc="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Windows</a:t>
                      </a:r>
                      <a:r>
                        <a:rPr sz="1600" spc="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1600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LinuxIDE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27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Processor:</a:t>
                      </a:r>
                      <a:r>
                        <a:rPr sz="16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Intel</a:t>
                      </a:r>
                      <a:r>
                        <a:rPr sz="16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i5</a:t>
                      </a:r>
                      <a:r>
                        <a:rPr sz="1600" spc="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1600" spc="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AMD</a:t>
                      </a:r>
                      <a:r>
                        <a:rPr sz="16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Ryzen</a:t>
                      </a:r>
                      <a:r>
                        <a:rPr sz="1600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600" spc="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or</a:t>
                      </a:r>
                      <a:r>
                        <a:rPr sz="1600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higher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LinuxIDE:</a:t>
                      </a:r>
                      <a:r>
                        <a:rPr sz="1600" spc="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Arduino</a:t>
                      </a:r>
                      <a:r>
                        <a:rPr sz="1600" spc="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IDE,</a:t>
                      </a:r>
                      <a:r>
                        <a:rPr sz="1600" spc="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VS</a:t>
                      </a:r>
                      <a:r>
                        <a:rPr sz="1600" spc="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Code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555"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RAM:</a:t>
                      </a:r>
                      <a:r>
                        <a:rPr sz="1600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Minimum</a:t>
                      </a:r>
                      <a:r>
                        <a:rPr sz="1600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8</a:t>
                      </a:r>
                      <a:r>
                        <a:rPr sz="16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35" dirty="0">
                          <a:latin typeface="Arial"/>
                          <a:cs typeface="Arial"/>
                        </a:rPr>
                        <a:t>GB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 marR="1292225">
                        <a:lnSpc>
                          <a:spcPct val="102499"/>
                        </a:lnSpc>
                        <a:spcBef>
                          <a:spcPts val="38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Frontend:</a:t>
                      </a:r>
                      <a:r>
                        <a:rPr sz="16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HTML,</a:t>
                      </a:r>
                      <a:r>
                        <a:rPr sz="1600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CSS,</a:t>
                      </a:r>
                      <a:r>
                        <a:rPr sz="1600" spc="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JavaScript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Backend:</a:t>
                      </a:r>
                      <a:r>
                        <a:rPr sz="1600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Python</a:t>
                      </a:r>
                      <a:r>
                        <a:rPr sz="1600" spc="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16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Node.js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4205"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Storage:</a:t>
                      </a:r>
                      <a:r>
                        <a:rPr sz="1600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Minimum</a:t>
                      </a:r>
                      <a:r>
                        <a:rPr sz="1600" spc="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256</a:t>
                      </a:r>
                      <a:r>
                        <a:rPr sz="1600" spc="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GB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27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Database:</a:t>
                      </a:r>
                      <a:r>
                        <a:rPr sz="16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MySQL</a:t>
                      </a:r>
                      <a:r>
                        <a:rPr sz="1600" spc="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16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MongoDBCloud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27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6110"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Internet</a:t>
                      </a:r>
                      <a:r>
                        <a:rPr sz="1600" spc="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Connection</a:t>
                      </a:r>
                      <a:r>
                        <a:rPr sz="1600" spc="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(for</a:t>
                      </a:r>
                      <a:r>
                        <a:rPr sz="1600" spc="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AWS</a:t>
                      </a:r>
                      <a:r>
                        <a:rPr sz="1600" spc="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IoT)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Platform:</a:t>
                      </a:r>
                      <a:r>
                        <a:rPr sz="1600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AWS</a:t>
                      </a:r>
                      <a:r>
                        <a:rPr sz="1600" spc="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IoT</a:t>
                      </a:r>
                      <a:r>
                        <a:rPr sz="1600" spc="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Core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20" dirty="0"/>
              <a:t>9</a:t>
            </a:fld>
            <a:r>
              <a:rPr spc="-20" dirty="0"/>
              <a:t>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0156" rIns="0" bIns="0" rtlCol="0">
            <a:spAutoFit/>
          </a:bodyPr>
          <a:lstStyle/>
          <a:p>
            <a:pPr marL="804545">
              <a:lnSpc>
                <a:spcPct val="100000"/>
              </a:lnSpc>
              <a:spcBef>
                <a:spcPts val="125"/>
              </a:spcBef>
            </a:pPr>
            <a:r>
              <a:rPr sz="3250" b="0" spc="50" dirty="0">
                <a:solidFill>
                  <a:srgbClr val="0C5BDB"/>
                </a:solidFill>
                <a:latin typeface="Cambria"/>
                <a:cs typeface="Cambria"/>
              </a:rPr>
              <a:t>Estimated</a:t>
            </a:r>
            <a:r>
              <a:rPr sz="3250" b="0" spc="110" dirty="0">
                <a:solidFill>
                  <a:srgbClr val="0C5BDB"/>
                </a:solidFill>
                <a:latin typeface="Cambria"/>
                <a:cs typeface="Cambria"/>
              </a:rPr>
              <a:t> </a:t>
            </a:r>
            <a:r>
              <a:rPr sz="3250" b="0" spc="100" dirty="0">
                <a:solidFill>
                  <a:srgbClr val="0C5BDB"/>
                </a:solidFill>
                <a:latin typeface="Cambria"/>
                <a:cs typeface="Cambria"/>
              </a:rPr>
              <a:t>Cost</a:t>
            </a:r>
            <a:endParaRPr sz="3250">
              <a:latin typeface="Cambria"/>
              <a:cs typeface="Cambr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" y="886968"/>
            <a:ext cx="941831" cy="1080515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77112" y="2331720"/>
          <a:ext cx="8124190" cy="3710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0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53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84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12420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Category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1178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Components</a:t>
                      </a:r>
                      <a:r>
                        <a:rPr sz="1600" spc="1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Included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6446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Cost</a:t>
                      </a:r>
                      <a:r>
                        <a:rPr sz="1600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(₹)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28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8490">
                <a:tc>
                  <a:txBody>
                    <a:bodyPr/>
                    <a:lstStyle/>
                    <a:p>
                      <a:pPr marL="312420">
                        <a:lnSpc>
                          <a:spcPct val="100000"/>
                        </a:lnSpc>
                        <a:spcBef>
                          <a:spcPts val="1470"/>
                        </a:spcBef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Controllers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866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FD8FB"/>
                    </a:solidFill>
                  </a:tcPr>
                </a:tc>
                <a:tc>
                  <a:txBody>
                    <a:bodyPr/>
                    <a:lstStyle/>
                    <a:p>
                      <a:pPr marL="311785">
                        <a:lnSpc>
                          <a:spcPct val="100000"/>
                        </a:lnSpc>
                        <a:spcBef>
                          <a:spcPts val="147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ESP32</a:t>
                      </a:r>
                      <a:r>
                        <a:rPr sz="1600" spc="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1600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Arduino</a:t>
                      </a:r>
                      <a:r>
                        <a:rPr sz="1600" spc="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UNO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866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FD8FB"/>
                    </a:solidFill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1470"/>
                        </a:spcBef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1,300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8669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FD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8490">
                <a:tc>
                  <a:txBody>
                    <a:bodyPr/>
                    <a:lstStyle/>
                    <a:p>
                      <a:pPr marL="312420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Sensors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8890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D"/>
                    </a:solidFill>
                  </a:tcPr>
                </a:tc>
                <a:tc>
                  <a:txBody>
                    <a:bodyPr/>
                    <a:lstStyle/>
                    <a:p>
                      <a:pPr marL="31178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Heart</a:t>
                      </a:r>
                      <a:r>
                        <a:rPr sz="1600" spc="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Rate,</a:t>
                      </a:r>
                      <a:r>
                        <a:rPr sz="1600" spc="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PIR,</a:t>
                      </a:r>
                      <a:r>
                        <a:rPr sz="1600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DHT22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8890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D"/>
                    </a:solidFill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1,350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8890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8490">
                <a:tc>
                  <a:txBody>
                    <a:bodyPr/>
                    <a:lstStyle/>
                    <a:p>
                      <a:pPr marL="312420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Smart</a:t>
                      </a:r>
                      <a:r>
                        <a:rPr sz="1600" spc="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Control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75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FD8FB"/>
                    </a:solidFill>
                  </a:tcPr>
                </a:tc>
                <a:tc>
                  <a:txBody>
                    <a:bodyPr/>
                    <a:lstStyle/>
                    <a:p>
                      <a:pPr marL="311785" marR="464184">
                        <a:lnSpc>
                          <a:spcPct val="102499"/>
                        </a:lnSpc>
                        <a:spcBef>
                          <a:spcPts val="35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Relay,</a:t>
                      </a:r>
                      <a:r>
                        <a:rPr sz="1600" spc="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Smart</a:t>
                      </a:r>
                      <a:r>
                        <a:rPr sz="1600" spc="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Bulb,</a:t>
                      </a:r>
                      <a:r>
                        <a:rPr sz="1600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Fan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Interface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FD8FB"/>
                    </a:solidFill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1,450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75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FD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84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1242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Power</a:t>
                      </a:r>
                      <a:r>
                        <a:rPr sz="1600" spc="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&amp;</a:t>
                      </a:r>
                      <a:r>
                        <a:rPr sz="16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Enclosure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1178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Adapter,</a:t>
                      </a:r>
                      <a:r>
                        <a:rPr sz="1600" spc="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Wires,</a:t>
                      </a:r>
                      <a:r>
                        <a:rPr sz="1600" spc="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Project</a:t>
                      </a:r>
                      <a:r>
                        <a:rPr sz="1600" spc="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Box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64465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1,000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8ED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84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FD8FB"/>
                    </a:solidFill>
                  </a:tcPr>
                </a:tc>
                <a:tc>
                  <a:txBody>
                    <a:bodyPr/>
                    <a:lstStyle/>
                    <a:p>
                      <a:pPr marL="311785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Total</a:t>
                      </a:r>
                      <a:r>
                        <a:rPr sz="16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Cost</a:t>
                      </a:r>
                      <a:r>
                        <a:rPr sz="1600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Est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831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FD8FB"/>
                    </a:solidFill>
                  </a:tcPr>
                </a:tc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1639"/>
                        </a:spcBef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5,100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08279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CFD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0057796" y="6365529"/>
            <a:ext cx="396240" cy="191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50" spc="-10" dirty="0">
                <a:solidFill>
                  <a:srgbClr val="595959"/>
                </a:solidFill>
                <a:latin typeface="Arial"/>
                <a:cs typeface="Arial"/>
              </a:rPr>
              <a:t>10/13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9347" y="2142744"/>
            <a:ext cx="9028176" cy="431292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6561" rIns="0" bIns="0" rtlCol="0">
            <a:spAutoFit/>
          </a:bodyPr>
          <a:lstStyle/>
          <a:p>
            <a:pPr marL="838200">
              <a:lnSpc>
                <a:spcPct val="100000"/>
              </a:lnSpc>
              <a:spcBef>
                <a:spcPts val="125"/>
              </a:spcBef>
            </a:pPr>
            <a:r>
              <a:rPr sz="2900" b="0" dirty="0">
                <a:solidFill>
                  <a:srgbClr val="0C5BDB"/>
                </a:solidFill>
                <a:latin typeface="Times New Roman"/>
                <a:cs typeface="Times New Roman"/>
              </a:rPr>
              <a:t>Literature</a:t>
            </a:r>
            <a:r>
              <a:rPr sz="2900" b="0" spc="55" dirty="0">
                <a:solidFill>
                  <a:srgbClr val="0C5BDB"/>
                </a:solidFill>
                <a:latin typeface="Times New Roman"/>
                <a:cs typeface="Times New Roman"/>
              </a:rPr>
              <a:t> </a:t>
            </a:r>
            <a:r>
              <a:rPr sz="2900" b="0" spc="-10" dirty="0">
                <a:solidFill>
                  <a:srgbClr val="0C5BDB"/>
                </a:solidFill>
                <a:latin typeface="Times New Roman"/>
                <a:cs typeface="Times New Roman"/>
              </a:rPr>
              <a:t>Review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263603" y="6365529"/>
            <a:ext cx="190500" cy="191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50" spc="-25" dirty="0">
                <a:solidFill>
                  <a:srgbClr val="595959"/>
                </a:solidFill>
                <a:latin typeface="Arial"/>
                <a:cs typeface="Arial"/>
              </a:rPr>
              <a:t>11</a:t>
            </a:r>
            <a:endParaRPr sz="115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71727" y="2135124"/>
          <a:ext cx="9027159" cy="4311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56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6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67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67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76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9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4006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Author</a:t>
                      </a:r>
                      <a:r>
                        <a:rPr sz="1600" spc="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&amp;</a:t>
                      </a:r>
                      <a:r>
                        <a:rPr sz="1600" spc="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Year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0256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9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276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Title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0256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9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540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Key</a:t>
                      </a:r>
                      <a:r>
                        <a:rPr sz="1600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Contribution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0256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9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809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spc="-10" dirty="0">
                          <a:latin typeface="Arial"/>
                          <a:cs typeface="Arial"/>
                        </a:rPr>
                        <a:t>Limitation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0256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8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40068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Saleem</a:t>
                      </a:r>
                      <a:r>
                        <a:rPr sz="16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et</a:t>
                      </a:r>
                      <a:r>
                        <a:rPr sz="16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al.,</a:t>
                      </a:r>
                      <a:r>
                        <a:rPr sz="1600" spc="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2020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29539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7660" marR="502284">
                        <a:lnSpc>
                          <a:spcPct val="102200"/>
                        </a:lnSpc>
                        <a:spcBef>
                          <a:spcPts val="85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IoT</a:t>
                      </a:r>
                      <a:r>
                        <a:rPr sz="16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Healthcare: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Sleep</a:t>
                      </a:r>
                      <a:r>
                        <a:rPr sz="1600" spc="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Quality Monitoring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85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00" marR="252095">
                        <a:lnSpc>
                          <a:spcPct val="102200"/>
                        </a:lnSpc>
                        <a:spcBef>
                          <a:spcPts val="855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Low-cost</a:t>
                      </a:r>
                      <a:r>
                        <a:rPr sz="1600" spc="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IoT</a:t>
                      </a:r>
                      <a:r>
                        <a:rPr sz="16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sleep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monitoring</a:t>
                      </a:r>
                      <a:r>
                        <a:rPr sz="1600" spc="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using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sensors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858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0975" marR="245745">
                        <a:lnSpc>
                          <a:spcPct val="102499"/>
                        </a:lnSpc>
                        <a:spcBef>
                          <a:spcPts val="183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No</a:t>
                      </a:r>
                      <a:r>
                        <a:rPr sz="16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adaptive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environment</a:t>
                      </a:r>
                      <a:r>
                        <a:rPr sz="1600" spc="1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control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3241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8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400685" marR="347980">
                        <a:lnSpc>
                          <a:spcPct val="102499"/>
                        </a:lnSpc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Gamel</a:t>
                      </a:r>
                      <a:r>
                        <a:rPr sz="16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&amp;</a:t>
                      </a:r>
                      <a:r>
                        <a:rPr sz="1600" spc="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Talaat, 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2024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3906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27660" marR="478790">
                        <a:lnSpc>
                          <a:spcPct val="102499"/>
                        </a:lnSpc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SleepSmart</a:t>
                      </a:r>
                      <a:r>
                        <a:rPr sz="1600" spc="1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IoT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System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3906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54000" marR="264795">
                        <a:lnSpc>
                          <a:spcPct val="102200"/>
                        </a:lnSpc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AI-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based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personalized</a:t>
                      </a:r>
                      <a:r>
                        <a:rPr sz="1600" spc="1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sleep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analysis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4604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9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80975" marR="280035">
                        <a:lnSpc>
                          <a:spcPct val="102499"/>
                        </a:lnSpc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Complex</a:t>
                      </a:r>
                      <a:r>
                        <a:rPr sz="1600" spc="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model,</a:t>
                      </a:r>
                      <a:r>
                        <a:rPr sz="1600" spc="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no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smart</a:t>
                      </a:r>
                      <a:r>
                        <a:rPr sz="1600" spc="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home</a:t>
                      </a:r>
                      <a:r>
                        <a:rPr sz="16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control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3906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6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4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40068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Do</a:t>
                      </a:r>
                      <a:r>
                        <a:rPr sz="1600" spc="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et</a:t>
                      </a:r>
                      <a:r>
                        <a:rPr sz="1600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al.,</a:t>
                      </a:r>
                      <a:r>
                        <a:rPr sz="1600" spc="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2025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0891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7660" marR="375920" algn="just">
                        <a:lnSpc>
                          <a:spcPct val="102200"/>
                        </a:lnSpc>
                        <a:spcBef>
                          <a:spcPts val="1490"/>
                        </a:spcBef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IoT-Based</a:t>
                      </a:r>
                      <a:r>
                        <a:rPr sz="1600" spc="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Sleep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Monitoring</a:t>
                      </a:r>
                      <a:r>
                        <a:rPr sz="1600" spc="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0" dirty="0">
                          <a:latin typeface="Arial"/>
                          <a:cs typeface="Arial"/>
                        </a:rPr>
                        <a:t>using 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EEG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8923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54000" marR="102870">
                        <a:lnSpc>
                          <a:spcPct val="102499"/>
                        </a:lnSpc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Cloud-based</a:t>
                      </a:r>
                      <a:r>
                        <a:rPr sz="1600" spc="1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sleep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analysis</a:t>
                      </a:r>
                      <a:r>
                        <a:rPr sz="1600" spc="1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architecture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80975" marR="613410">
                        <a:lnSpc>
                          <a:spcPct val="102499"/>
                        </a:lnSpc>
                      </a:pPr>
                      <a:r>
                        <a:rPr sz="1600" dirty="0">
                          <a:latin typeface="Arial"/>
                          <a:cs typeface="Arial"/>
                        </a:rPr>
                        <a:t>Expensive</a:t>
                      </a:r>
                      <a:r>
                        <a:rPr sz="1600" spc="1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spc="-25" dirty="0">
                          <a:latin typeface="Arial"/>
                          <a:cs typeface="Arial"/>
                        </a:rPr>
                        <a:t>EEG </a:t>
                      </a:r>
                      <a:r>
                        <a:rPr sz="1600" spc="-10" dirty="0">
                          <a:latin typeface="Arial"/>
                          <a:cs typeface="Arial"/>
                        </a:rPr>
                        <a:t>hardware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524000">
              <a:lnSpc>
                <a:spcPct val="100000"/>
              </a:lnSpc>
              <a:spcBef>
                <a:spcPts val="135"/>
              </a:spcBef>
            </a:pPr>
            <a:r>
              <a:rPr sz="2650" b="0" spc="-10" dirty="0">
                <a:solidFill>
                  <a:srgbClr val="0C5BDB"/>
                </a:solidFill>
                <a:latin typeface="Cambria"/>
                <a:cs typeface="Cambria"/>
              </a:rPr>
              <a:t>References</a:t>
            </a:r>
            <a:endParaRPr sz="265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02610" y="6519122"/>
            <a:ext cx="396240" cy="2032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spc="-10" dirty="0">
                <a:solidFill>
                  <a:srgbClr val="595959"/>
                </a:solidFill>
                <a:latin typeface="Arial"/>
                <a:cs typeface="Arial"/>
              </a:rPr>
              <a:t>12/13</a:t>
            </a:r>
            <a:endParaRPr sz="115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5" y="819912"/>
            <a:ext cx="941831" cy="98297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70002" y="2466899"/>
            <a:ext cx="9512935" cy="34486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414020" indent="-401320">
              <a:lnSpc>
                <a:spcPct val="100000"/>
              </a:lnSpc>
              <a:spcBef>
                <a:spcPts val="120"/>
              </a:spcBef>
              <a:buAutoNum type="arabicPeriod"/>
              <a:tabLst>
                <a:tab pos="414020" algn="l"/>
              </a:tabLst>
            </a:pPr>
            <a:r>
              <a:rPr sz="1850" b="1" dirty="0">
                <a:latin typeface="Arial"/>
                <a:cs typeface="Arial"/>
              </a:rPr>
              <a:t>Saleem,</a:t>
            </a:r>
            <a:r>
              <a:rPr sz="1850" b="1" spc="30" dirty="0">
                <a:latin typeface="Arial"/>
                <a:cs typeface="Arial"/>
              </a:rPr>
              <a:t> </a:t>
            </a:r>
            <a:r>
              <a:rPr sz="1850" b="1" dirty="0">
                <a:latin typeface="Arial"/>
                <a:cs typeface="Arial"/>
              </a:rPr>
              <a:t>K.,</a:t>
            </a:r>
            <a:r>
              <a:rPr sz="1850" b="1" spc="30" dirty="0">
                <a:latin typeface="Arial"/>
                <a:cs typeface="Arial"/>
              </a:rPr>
              <a:t> </a:t>
            </a:r>
            <a:r>
              <a:rPr sz="1850" b="1" dirty="0">
                <a:latin typeface="Arial"/>
                <a:cs typeface="Arial"/>
              </a:rPr>
              <a:t>et</a:t>
            </a:r>
            <a:r>
              <a:rPr sz="1850" b="1" spc="20" dirty="0">
                <a:latin typeface="Arial"/>
                <a:cs typeface="Arial"/>
              </a:rPr>
              <a:t> </a:t>
            </a:r>
            <a:r>
              <a:rPr sz="1850" b="1" spc="-25" dirty="0">
                <a:latin typeface="Arial"/>
                <a:cs typeface="Arial"/>
              </a:rPr>
              <a:t>al.</a:t>
            </a:r>
            <a:endParaRPr sz="1850">
              <a:latin typeface="Arial"/>
              <a:cs typeface="Arial"/>
            </a:endParaRPr>
          </a:p>
          <a:p>
            <a:pPr marL="413384">
              <a:lnSpc>
                <a:spcPct val="100000"/>
              </a:lnSpc>
              <a:spcBef>
                <a:spcPts val="25"/>
              </a:spcBef>
            </a:pPr>
            <a:r>
              <a:rPr sz="1850" i="1" dirty="0">
                <a:latin typeface="Arial"/>
                <a:cs typeface="Arial"/>
              </a:rPr>
              <a:t>IoT</a:t>
            </a:r>
            <a:r>
              <a:rPr sz="1850" i="1" spc="45" dirty="0">
                <a:latin typeface="Arial"/>
                <a:cs typeface="Arial"/>
              </a:rPr>
              <a:t> </a:t>
            </a:r>
            <a:r>
              <a:rPr sz="1850" i="1" dirty="0">
                <a:latin typeface="Arial"/>
                <a:cs typeface="Arial"/>
              </a:rPr>
              <a:t>Healthcare:</a:t>
            </a:r>
            <a:r>
              <a:rPr sz="1850" i="1" spc="40" dirty="0">
                <a:latin typeface="Arial"/>
                <a:cs typeface="Arial"/>
              </a:rPr>
              <a:t> </a:t>
            </a:r>
            <a:r>
              <a:rPr sz="1850" i="1" dirty="0">
                <a:latin typeface="Arial"/>
                <a:cs typeface="Arial"/>
              </a:rPr>
              <a:t>Design</a:t>
            </a:r>
            <a:r>
              <a:rPr sz="1850" i="1" spc="20" dirty="0">
                <a:latin typeface="Arial"/>
                <a:cs typeface="Arial"/>
              </a:rPr>
              <a:t> </a:t>
            </a:r>
            <a:r>
              <a:rPr sz="1850" i="1" dirty="0">
                <a:latin typeface="Arial"/>
                <a:cs typeface="Arial"/>
              </a:rPr>
              <a:t>of</a:t>
            </a:r>
            <a:r>
              <a:rPr sz="1850" i="1" spc="55" dirty="0">
                <a:latin typeface="Arial"/>
                <a:cs typeface="Arial"/>
              </a:rPr>
              <a:t> </a:t>
            </a:r>
            <a:r>
              <a:rPr sz="1850" i="1" dirty="0">
                <a:latin typeface="Arial"/>
                <a:cs typeface="Arial"/>
              </a:rPr>
              <a:t>Smart</a:t>
            </a:r>
            <a:r>
              <a:rPr sz="1850" i="1" spc="75" dirty="0">
                <a:latin typeface="Arial"/>
                <a:cs typeface="Arial"/>
              </a:rPr>
              <a:t> </a:t>
            </a:r>
            <a:r>
              <a:rPr sz="1850" i="1" dirty="0">
                <a:latin typeface="Arial"/>
                <a:cs typeface="Arial"/>
              </a:rPr>
              <a:t>and</a:t>
            </a:r>
            <a:r>
              <a:rPr sz="1850" i="1" spc="15" dirty="0">
                <a:latin typeface="Arial"/>
                <a:cs typeface="Arial"/>
              </a:rPr>
              <a:t> </a:t>
            </a:r>
            <a:r>
              <a:rPr sz="1850" i="1" dirty="0">
                <a:latin typeface="Arial"/>
                <a:cs typeface="Arial"/>
              </a:rPr>
              <a:t>Cost-Effective</a:t>
            </a:r>
            <a:r>
              <a:rPr sz="1850" i="1" spc="85" dirty="0">
                <a:latin typeface="Arial"/>
                <a:cs typeface="Arial"/>
              </a:rPr>
              <a:t> </a:t>
            </a:r>
            <a:r>
              <a:rPr sz="1850" i="1" dirty="0">
                <a:latin typeface="Arial"/>
                <a:cs typeface="Arial"/>
              </a:rPr>
              <a:t>Sleep</a:t>
            </a:r>
            <a:r>
              <a:rPr sz="1850" i="1" spc="15" dirty="0">
                <a:latin typeface="Arial"/>
                <a:cs typeface="Arial"/>
              </a:rPr>
              <a:t> </a:t>
            </a:r>
            <a:r>
              <a:rPr sz="1850" i="1" dirty="0">
                <a:latin typeface="Arial"/>
                <a:cs typeface="Arial"/>
              </a:rPr>
              <a:t>Quality</a:t>
            </a:r>
            <a:r>
              <a:rPr sz="1850" i="1" spc="35" dirty="0">
                <a:latin typeface="Arial"/>
                <a:cs typeface="Arial"/>
              </a:rPr>
              <a:t> </a:t>
            </a:r>
            <a:r>
              <a:rPr sz="1850" i="1" dirty="0">
                <a:latin typeface="Arial"/>
                <a:cs typeface="Arial"/>
              </a:rPr>
              <a:t>Monitoring</a:t>
            </a:r>
            <a:r>
              <a:rPr sz="1850" i="1" spc="15" dirty="0">
                <a:latin typeface="Arial"/>
                <a:cs typeface="Arial"/>
              </a:rPr>
              <a:t> </a:t>
            </a:r>
            <a:r>
              <a:rPr sz="1850" i="1" spc="-10" dirty="0">
                <a:latin typeface="Arial"/>
                <a:cs typeface="Arial"/>
              </a:rPr>
              <a:t>System</a:t>
            </a:r>
            <a:r>
              <a:rPr sz="1850" spc="-10" dirty="0">
                <a:latin typeface="Arial"/>
                <a:cs typeface="Arial"/>
              </a:rPr>
              <a:t>,</a:t>
            </a:r>
            <a:endParaRPr sz="1850">
              <a:latin typeface="Arial"/>
              <a:cs typeface="Arial"/>
            </a:endParaRPr>
          </a:p>
          <a:p>
            <a:pPr marL="413384">
              <a:lnSpc>
                <a:spcPct val="100000"/>
              </a:lnSpc>
              <a:spcBef>
                <a:spcPts val="25"/>
              </a:spcBef>
            </a:pPr>
            <a:r>
              <a:rPr sz="1850" b="1" dirty="0">
                <a:latin typeface="Arial"/>
                <a:cs typeface="Arial"/>
              </a:rPr>
              <a:t>Journal</a:t>
            </a:r>
            <a:r>
              <a:rPr sz="1850" b="1" spc="35" dirty="0">
                <a:latin typeface="Arial"/>
                <a:cs typeface="Arial"/>
              </a:rPr>
              <a:t> </a:t>
            </a:r>
            <a:r>
              <a:rPr sz="1850" b="1" dirty="0">
                <a:latin typeface="Arial"/>
                <a:cs typeface="Arial"/>
              </a:rPr>
              <a:t>of</a:t>
            </a:r>
            <a:r>
              <a:rPr sz="1850" b="1" spc="50" dirty="0">
                <a:latin typeface="Arial"/>
                <a:cs typeface="Arial"/>
              </a:rPr>
              <a:t> </a:t>
            </a:r>
            <a:r>
              <a:rPr sz="1850" b="1" dirty="0">
                <a:latin typeface="Arial"/>
                <a:cs typeface="Arial"/>
              </a:rPr>
              <a:t>Sensors</a:t>
            </a:r>
            <a:r>
              <a:rPr sz="1850" dirty="0">
                <a:latin typeface="Arial"/>
                <a:cs typeface="Arial"/>
              </a:rPr>
              <a:t>,</a:t>
            </a:r>
            <a:r>
              <a:rPr sz="1850" spc="25" dirty="0">
                <a:latin typeface="Arial"/>
                <a:cs typeface="Arial"/>
              </a:rPr>
              <a:t> </a:t>
            </a:r>
            <a:r>
              <a:rPr sz="1850" spc="-20" dirty="0">
                <a:latin typeface="Arial"/>
                <a:cs typeface="Arial"/>
              </a:rPr>
              <a:t>2020.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850">
              <a:latin typeface="Arial"/>
              <a:cs typeface="Arial"/>
            </a:endParaRPr>
          </a:p>
          <a:p>
            <a:pPr marL="414020" indent="-401320">
              <a:lnSpc>
                <a:spcPct val="100000"/>
              </a:lnSpc>
              <a:buAutoNum type="arabicPeriod" startAt="2"/>
              <a:tabLst>
                <a:tab pos="414020" algn="l"/>
              </a:tabLst>
            </a:pPr>
            <a:r>
              <a:rPr sz="1850" b="1" dirty="0">
                <a:latin typeface="Arial"/>
                <a:cs typeface="Arial"/>
              </a:rPr>
              <a:t>Gamel,</a:t>
            </a:r>
            <a:r>
              <a:rPr sz="1850" b="1" spc="45" dirty="0">
                <a:latin typeface="Arial"/>
                <a:cs typeface="Arial"/>
              </a:rPr>
              <a:t> </a:t>
            </a:r>
            <a:r>
              <a:rPr sz="1850" b="1" dirty="0">
                <a:latin typeface="Arial"/>
                <a:cs typeface="Arial"/>
              </a:rPr>
              <a:t>S.</a:t>
            </a:r>
            <a:r>
              <a:rPr sz="1850" b="1" spc="45" dirty="0">
                <a:latin typeface="Arial"/>
                <a:cs typeface="Arial"/>
              </a:rPr>
              <a:t> </a:t>
            </a:r>
            <a:r>
              <a:rPr sz="1850" b="1" dirty="0">
                <a:latin typeface="Arial"/>
                <a:cs typeface="Arial"/>
              </a:rPr>
              <a:t>A.,</a:t>
            </a:r>
            <a:r>
              <a:rPr sz="1850" b="1" spc="30" dirty="0">
                <a:latin typeface="Arial"/>
                <a:cs typeface="Arial"/>
              </a:rPr>
              <a:t> </a:t>
            </a:r>
            <a:r>
              <a:rPr sz="1850" b="1" dirty="0">
                <a:latin typeface="Arial"/>
                <a:cs typeface="Arial"/>
              </a:rPr>
              <a:t>&amp;</a:t>
            </a:r>
            <a:r>
              <a:rPr sz="1850" b="1" spc="20" dirty="0">
                <a:latin typeface="Arial"/>
                <a:cs typeface="Arial"/>
              </a:rPr>
              <a:t> </a:t>
            </a:r>
            <a:r>
              <a:rPr sz="1850" b="1" dirty="0">
                <a:latin typeface="Arial"/>
                <a:cs typeface="Arial"/>
              </a:rPr>
              <a:t>Talaat,</a:t>
            </a:r>
            <a:r>
              <a:rPr sz="1850" b="1" spc="30" dirty="0">
                <a:latin typeface="Arial"/>
                <a:cs typeface="Arial"/>
              </a:rPr>
              <a:t> </a:t>
            </a:r>
            <a:r>
              <a:rPr sz="1850" b="1" dirty="0">
                <a:latin typeface="Arial"/>
                <a:cs typeface="Arial"/>
              </a:rPr>
              <a:t>F.</a:t>
            </a:r>
            <a:r>
              <a:rPr sz="1850" b="1" spc="25" dirty="0">
                <a:latin typeface="Arial"/>
                <a:cs typeface="Arial"/>
              </a:rPr>
              <a:t> </a:t>
            </a:r>
            <a:r>
              <a:rPr sz="1850" b="1" spc="-25" dirty="0">
                <a:latin typeface="Arial"/>
                <a:cs typeface="Arial"/>
              </a:rPr>
              <a:t>M.</a:t>
            </a:r>
            <a:endParaRPr sz="1850">
              <a:latin typeface="Arial"/>
              <a:cs typeface="Arial"/>
            </a:endParaRPr>
          </a:p>
          <a:p>
            <a:pPr marL="413384">
              <a:lnSpc>
                <a:spcPct val="100000"/>
              </a:lnSpc>
              <a:spcBef>
                <a:spcPts val="25"/>
              </a:spcBef>
            </a:pPr>
            <a:r>
              <a:rPr sz="1850" i="1" dirty="0">
                <a:latin typeface="Arial"/>
                <a:cs typeface="Arial"/>
              </a:rPr>
              <a:t>SleepSmart:</a:t>
            </a:r>
            <a:r>
              <a:rPr sz="1850" i="1" spc="55" dirty="0">
                <a:latin typeface="Arial"/>
                <a:cs typeface="Arial"/>
              </a:rPr>
              <a:t> </a:t>
            </a:r>
            <a:r>
              <a:rPr sz="1850" i="1" dirty="0">
                <a:latin typeface="Arial"/>
                <a:cs typeface="Arial"/>
              </a:rPr>
              <a:t>IoT-Enabled</a:t>
            </a:r>
            <a:r>
              <a:rPr sz="1850" i="1" spc="20" dirty="0">
                <a:latin typeface="Arial"/>
                <a:cs typeface="Arial"/>
              </a:rPr>
              <a:t> </a:t>
            </a:r>
            <a:r>
              <a:rPr sz="1850" i="1" dirty="0">
                <a:latin typeface="Arial"/>
                <a:cs typeface="Arial"/>
              </a:rPr>
              <a:t>Continual</a:t>
            </a:r>
            <a:r>
              <a:rPr sz="1850" i="1" spc="50" dirty="0">
                <a:latin typeface="Arial"/>
                <a:cs typeface="Arial"/>
              </a:rPr>
              <a:t> </a:t>
            </a:r>
            <a:r>
              <a:rPr sz="1850" i="1" dirty="0">
                <a:latin typeface="Arial"/>
                <a:cs typeface="Arial"/>
              </a:rPr>
              <a:t>Learning</a:t>
            </a:r>
            <a:r>
              <a:rPr sz="1850" i="1" spc="5" dirty="0">
                <a:latin typeface="Arial"/>
                <a:cs typeface="Arial"/>
              </a:rPr>
              <a:t> </a:t>
            </a:r>
            <a:r>
              <a:rPr sz="1850" i="1" dirty="0">
                <a:latin typeface="Arial"/>
                <a:cs typeface="Arial"/>
              </a:rPr>
              <a:t>for</a:t>
            </a:r>
            <a:r>
              <a:rPr sz="1850" i="1" spc="65" dirty="0">
                <a:latin typeface="Arial"/>
                <a:cs typeface="Arial"/>
              </a:rPr>
              <a:t> </a:t>
            </a:r>
            <a:r>
              <a:rPr sz="1850" i="1" dirty="0">
                <a:latin typeface="Arial"/>
                <a:cs typeface="Arial"/>
              </a:rPr>
              <a:t>Intelligent</a:t>
            </a:r>
            <a:r>
              <a:rPr sz="1850" i="1" spc="40" dirty="0">
                <a:latin typeface="Arial"/>
                <a:cs typeface="Arial"/>
              </a:rPr>
              <a:t> </a:t>
            </a:r>
            <a:r>
              <a:rPr sz="1850" i="1" dirty="0">
                <a:latin typeface="Arial"/>
                <a:cs typeface="Arial"/>
              </a:rPr>
              <a:t>Sleep</a:t>
            </a:r>
            <a:r>
              <a:rPr sz="1850" i="1" spc="20" dirty="0">
                <a:latin typeface="Arial"/>
                <a:cs typeface="Arial"/>
              </a:rPr>
              <a:t> </a:t>
            </a:r>
            <a:r>
              <a:rPr sz="1850" i="1" spc="-10" dirty="0">
                <a:latin typeface="Arial"/>
                <a:cs typeface="Arial"/>
              </a:rPr>
              <a:t>Enhancement</a:t>
            </a:r>
            <a:r>
              <a:rPr sz="1850" spc="-10" dirty="0">
                <a:latin typeface="Arial"/>
                <a:cs typeface="Arial"/>
              </a:rPr>
              <a:t>,</a:t>
            </a:r>
            <a:endParaRPr sz="1850">
              <a:latin typeface="Arial"/>
              <a:cs typeface="Arial"/>
            </a:endParaRPr>
          </a:p>
          <a:p>
            <a:pPr marL="413384">
              <a:lnSpc>
                <a:spcPct val="100000"/>
              </a:lnSpc>
              <a:spcBef>
                <a:spcPts val="25"/>
              </a:spcBef>
            </a:pPr>
            <a:r>
              <a:rPr sz="1850" b="1" dirty="0">
                <a:latin typeface="Arial"/>
                <a:cs typeface="Arial"/>
              </a:rPr>
              <a:t>Neural</a:t>
            </a:r>
            <a:r>
              <a:rPr sz="1850" b="1" spc="40" dirty="0">
                <a:latin typeface="Arial"/>
                <a:cs typeface="Arial"/>
              </a:rPr>
              <a:t> </a:t>
            </a:r>
            <a:r>
              <a:rPr sz="1850" b="1" dirty="0">
                <a:latin typeface="Arial"/>
                <a:cs typeface="Arial"/>
              </a:rPr>
              <a:t>Computing</a:t>
            </a:r>
            <a:r>
              <a:rPr sz="1850" b="1" spc="50" dirty="0">
                <a:latin typeface="Arial"/>
                <a:cs typeface="Arial"/>
              </a:rPr>
              <a:t> </a:t>
            </a:r>
            <a:r>
              <a:rPr sz="1850" b="1" dirty="0">
                <a:latin typeface="Arial"/>
                <a:cs typeface="Arial"/>
              </a:rPr>
              <a:t>and</a:t>
            </a:r>
            <a:r>
              <a:rPr sz="1850" b="1" spc="50" dirty="0">
                <a:latin typeface="Arial"/>
                <a:cs typeface="Arial"/>
              </a:rPr>
              <a:t> </a:t>
            </a:r>
            <a:r>
              <a:rPr sz="1850" b="1" dirty="0">
                <a:latin typeface="Arial"/>
                <a:cs typeface="Arial"/>
              </a:rPr>
              <a:t>Applications</a:t>
            </a:r>
            <a:r>
              <a:rPr sz="1850" b="1" spc="65" dirty="0">
                <a:latin typeface="Arial"/>
                <a:cs typeface="Arial"/>
              </a:rPr>
              <a:t> </a:t>
            </a:r>
            <a:r>
              <a:rPr sz="1850" b="1" dirty="0">
                <a:latin typeface="Arial"/>
                <a:cs typeface="Arial"/>
              </a:rPr>
              <a:t>(Springer)</a:t>
            </a:r>
            <a:r>
              <a:rPr sz="1850" dirty="0">
                <a:latin typeface="Arial"/>
                <a:cs typeface="Arial"/>
              </a:rPr>
              <a:t>,</a:t>
            </a:r>
            <a:r>
              <a:rPr sz="1850" spc="80" dirty="0">
                <a:latin typeface="Arial"/>
                <a:cs typeface="Arial"/>
              </a:rPr>
              <a:t> </a:t>
            </a:r>
            <a:r>
              <a:rPr sz="1850" spc="-10" dirty="0">
                <a:latin typeface="Arial"/>
                <a:cs typeface="Arial"/>
              </a:rPr>
              <a:t>2024.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850">
              <a:latin typeface="Arial"/>
              <a:cs typeface="Arial"/>
            </a:endParaRPr>
          </a:p>
          <a:p>
            <a:pPr marL="414020" indent="-401320">
              <a:lnSpc>
                <a:spcPct val="100000"/>
              </a:lnSpc>
              <a:buAutoNum type="arabicPeriod" startAt="3"/>
              <a:tabLst>
                <a:tab pos="414020" algn="l"/>
              </a:tabLst>
            </a:pPr>
            <a:r>
              <a:rPr sz="1850" b="1" dirty="0">
                <a:latin typeface="Arial"/>
                <a:cs typeface="Arial"/>
              </a:rPr>
              <a:t>Do,</a:t>
            </a:r>
            <a:r>
              <a:rPr sz="1850" b="1" spc="20" dirty="0">
                <a:latin typeface="Arial"/>
                <a:cs typeface="Arial"/>
              </a:rPr>
              <a:t> </a:t>
            </a:r>
            <a:r>
              <a:rPr sz="1850" b="1" dirty="0">
                <a:latin typeface="Arial"/>
                <a:cs typeface="Arial"/>
              </a:rPr>
              <a:t>C.</a:t>
            </a:r>
            <a:r>
              <a:rPr sz="1850" b="1" spc="25" dirty="0">
                <a:latin typeface="Arial"/>
                <a:cs typeface="Arial"/>
              </a:rPr>
              <a:t> </a:t>
            </a:r>
            <a:r>
              <a:rPr sz="1850" b="1" dirty="0">
                <a:latin typeface="Arial"/>
                <a:cs typeface="Arial"/>
              </a:rPr>
              <a:t>T.,</a:t>
            </a:r>
            <a:r>
              <a:rPr sz="1850" b="1" spc="45" dirty="0">
                <a:latin typeface="Arial"/>
                <a:cs typeface="Arial"/>
              </a:rPr>
              <a:t> </a:t>
            </a:r>
            <a:r>
              <a:rPr sz="1850" b="1" dirty="0">
                <a:latin typeface="Arial"/>
                <a:cs typeface="Arial"/>
              </a:rPr>
              <a:t>et</a:t>
            </a:r>
            <a:r>
              <a:rPr sz="1850" b="1" spc="15" dirty="0">
                <a:latin typeface="Arial"/>
                <a:cs typeface="Arial"/>
              </a:rPr>
              <a:t> </a:t>
            </a:r>
            <a:r>
              <a:rPr sz="1850" b="1" spc="-25" dirty="0">
                <a:latin typeface="Arial"/>
                <a:cs typeface="Arial"/>
              </a:rPr>
              <a:t>al.</a:t>
            </a:r>
            <a:endParaRPr sz="1850">
              <a:latin typeface="Arial"/>
              <a:cs typeface="Arial"/>
            </a:endParaRPr>
          </a:p>
          <a:p>
            <a:pPr marL="413384" marR="5080">
              <a:lnSpc>
                <a:spcPct val="101099"/>
              </a:lnSpc>
              <a:spcBef>
                <a:spcPts val="10"/>
              </a:spcBef>
            </a:pPr>
            <a:r>
              <a:rPr sz="1850" i="1" dirty="0">
                <a:latin typeface="Arial"/>
                <a:cs typeface="Arial"/>
              </a:rPr>
              <a:t>IoT-Powered</a:t>
            </a:r>
            <a:r>
              <a:rPr sz="1850" i="1" spc="80" dirty="0">
                <a:latin typeface="Arial"/>
                <a:cs typeface="Arial"/>
              </a:rPr>
              <a:t> </a:t>
            </a:r>
            <a:r>
              <a:rPr sz="1850" i="1" dirty="0">
                <a:latin typeface="Arial"/>
                <a:cs typeface="Arial"/>
              </a:rPr>
              <a:t>Mental</a:t>
            </a:r>
            <a:r>
              <a:rPr sz="1850" i="1" spc="50" dirty="0">
                <a:latin typeface="Arial"/>
                <a:cs typeface="Arial"/>
              </a:rPr>
              <a:t> </a:t>
            </a:r>
            <a:r>
              <a:rPr sz="1850" i="1" dirty="0">
                <a:latin typeface="Arial"/>
                <a:cs typeface="Arial"/>
              </a:rPr>
              <a:t>Healthcare:</a:t>
            </a:r>
            <a:r>
              <a:rPr sz="1850" i="1" spc="15" dirty="0">
                <a:latin typeface="Arial"/>
                <a:cs typeface="Arial"/>
              </a:rPr>
              <a:t> </a:t>
            </a:r>
            <a:r>
              <a:rPr sz="1850" i="1" dirty="0">
                <a:latin typeface="Arial"/>
                <a:cs typeface="Arial"/>
              </a:rPr>
              <a:t>Sleep</a:t>
            </a:r>
            <a:r>
              <a:rPr sz="1850" i="1" spc="20" dirty="0">
                <a:latin typeface="Arial"/>
                <a:cs typeface="Arial"/>
              </a:rPr>
              <a:t> </a:t>
            </a:r>
            <a:r>
              <a:rPr sz="1850" i="1" dirty="0">
                <a:latin typeface="Arial"/>
                <a:cs typeface="Arial"/>
              </a:rPr>
              <a:t>State</a:t>
            </a:r>
            <a:r>
              <a:rPr sz="1850" i="1" spc="60" dirty="0">
                <a:latin typeface="Arial"/>
                <a:cs typeface="Arial"/>
              </a:rPr>
              <a:t> </a:t>
            </a:r>
            <a:r>
              <a:rPr sz="1850" i="1" dirty="0">
                <a:latin typeface="Arial"/>
                <a:cs typeface="Arial"/>
              </a:rPr>
              <a:t>Analyzing</a:t>
            </a:r>
            <a:r>
              <a:rPr sz="1850" i="1" spc="40" dirty="0">
                <a:latin typeface="Arial"/>
                <a:cs typeface="Arial"/>
              </a:rPr>
              <a:t> </a:t>
            </a:r>
            <a:r>
              <a:rPr sz="1850" i="1" dirty="0">
                <a:latin typeface="Arial"/>
                <a:cs typeface="Arial"/>
              </a:rPr>
              <a:t>and</a:t>
            </a:r>
            <a:r>
              <a:rPr sz="1850" i="1" spc="15" dirty="0">
                <a:latin typeface="Arial"/>
                <a:cs typeface="Arial"/>
              </a:rPr>
              <a:t> </a:t>
            </a:r>
            <a:r>
              <a:rPr sz="1850" i="1" dirty="0">
                <a:latin typeface="Arial"/>
                <a:cs typeface="Arial"/>
              </a:rPr>
              <a:t>Monitoring</a:t>
            </a:r>
            <a:r>
              <a:rPr sz="1850" i="1" spc="20" dirty="0">
                <a:latin typeface="Arial"/>
                <a:cs typeface="Arial"/>
              </a:rPr>
              <a:t> </a:t>
            </a:r>
            <a:r>
              <a:rPr sz="1850" i="1" dirty="0">
                <a:latin typeface="Arial"/>
                <a:cs typeface="Arial"/>
              </a:rPr>
              <a:t>Based</a:t>
            </a:r>
            <a:r>
              <a:rPr sz="1850" i="1" spc="40" dirty="0">
                <a:latin typeface="Arial"/>
                <a:cs typeface="Arial"/>
              </a:rPr>
              <a:t> </a:t>
            </a:r>
            <a:r>
              <a:rPr sz="1850" i="1" dirty="0">
                <a:latin typeface="Arial"/>
                <a:cs typeface="Arial"/>
              </a:rPr>
              <a:t>on</a:t>
            </a:r>
            <a:r>
              <a:rPr sz="1850" i="1" spc="35" dirty="0">
                <a:latin typeface="Arial"/>
                <a:cs typeface="Arial"/>
              </a:rPr>
              <a:t> </a:t>
            </a:r>
            <a:r>
              <a:rPr sz="1850" i="1" spc="-25" dirty="0">
                <a:latin typeface="Arial"/>
                <a:cs typeface="Arial"/>
              </a:rPr>
              <a:t>EEG </a:t>
            </a:r>
            <a:r>
              <a:rPr sz="1850" i="1" spc="-10" dirty="0">
                <a:latin typeface="Arial"/>
                <a:cs typeface="Arial"/>
              </a:rPr>
              <a:t>Signals</a:t>
            </a:r>
            <a:r>
              <a:rPr sz="1850" spc="-10" dirty="0">
                <a:latin typeface="Arial"/>
                <a:cs typeface="Arial"/>
              </a:rPr>
              <a:t>,</a:t>
            </a:r>
            <a:endParaRPr sz="1850">
              <a:latin typeface="Arial"/>
              <a:cs typeface="Arial"/>
            </a:endParaRPr>
          </a:p>
          <a:p>
            <a:pPr marL="413384">
              <a:lnSpc>
                <a:spcPct val="100000"/>
              </a:lnSpc>
              <a:spcBef>
                <a:spcPts val="25"/>
              </a:spcBef>
            </a:pPr>
            <a:r>
              <a:rPr sz="1850" b="1" dirty="0">
                <a:latin typeface="Arial"/>
                <a:cs typeface="Arial"/>
              </a:rPr>
              <a:t>IEEE</a:t>
            </a:r>
            <a:r>
              <a:rPr sz="1850" b="1" spc="40" dirty="0">
                <a:latin typeface="Arial"/>
                <a:cs typeface="Arial"/>
              </a:rPr>
              <a:t> </a:t>
            </a:r>
            <a:r>
              <a:rPr sz="1850" b="1" dirty="0">
                <a:latin typeface="Arial"/>
                <a:cs typeface="Arial"/>
              </a:rPr>
              <a:t>Access</a:t>
            </a:r>
            <a:r>
              <a:rPr sz="1850" dirty="0">
                <a:latin typeface="Arial"/>
                <a:cs typeface="Arial"/>
              </a:rPr>
              <a:t>, </a:t>
            </a:r>
            <a:r>
              <a:rPr sz="1850" spc="-10" dirty="0">
                <a:latin typeface="Arial"/>
                <a:cs typeface="Arial"/>
              </a:rPr>
              <a:t>2025.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85057" y="3125108"/>
            <a:ext cx="3129915" cy="7391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650" b="1" dirty="0">
                <a:latin typeface="Times New Roman"/>
                <a:cs typeface="Times New Roman"/>
              </a:rPr>
              <a:t>Thank</a:t>
            </a:r>
            <a:r>
              <a:rPr sz="4650" b="1" spc="-30" dirty="0">
                <a:latin typeface="Times New Roman"/>
                <a:cs typeface="Times New Roman"/>
              </a:rPr>
              <a:t> </a:t>
            </a:r>
            <a:r>
              <a:rPr sz="4650" b="1" dirty="0">
                <a:latin typeface="Times New Roman"/>
                <a:cs typeface="Times New Roman"/>
              </a:rPr>
              <a:t>you</a:t>
            </a:r>
            <a:r>
              <a:rPr sz="4650" b="1" spc="25" dirty="0">
                <a:latin typeface="Times New Roman"/>
                <a:cs typeface="Times New Roman"/>
              </a:rPr>
              <a:t> </a:t>
            </a:r>
            <a:r>
              <a:rPr sz="4650" b="1" spc="-50" dirty="0">
                <a:latin typeface="Times New Roman"/>
                <a:cs typeface="Times New Roman"/>
              </a:rPr>
              <a:t>!</a:t>
            </a:r>
            <a:endParaRPr sz="46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63603" y="6351526"/>
            <a:ext cx="190500" cy="2032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spc="-25" dirty="0">
                <a:solidFill>
                  <a:srgbClr val="595959"/>
                </a:solidFill>
                <a:latin typeface="Arial"/>
                <a:cs typeface="Arial"/>
              </a:rPr>
              <a:t>13</a:t>
            </a:r>
            <a:endParaRPr sz="115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863" y="1299972"/>
            <a:ext cx="1114043" cy="128625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185360" y="4274511"/>
            <a:ext cx="3336290" cy="1371600"/>
          </a:xfrm>
          <a:prstGeom prst="rect">
            <a:avLst/>
          </a:prstGeom>
        </p:spPr>
        <p:txBody>
          <a:bodyPr vert="horz" wrap="square" lIns="0" tIns="26669" rIns="0" bIns="0" rtlCol="0">
            <a:spAutoFit/>
          </a:bodyPr>
          <a:lstStyle/>
          <a:p>
            <a:pPr marL="12700" marR="5080">
              <a:lnSpc>
                <a:spcPct val="136500"/>
              </a:lnSpc>
              <a:spcBef>
                <a:spcPts val="209"/>
              </a:spcBef>
            </a:pPr>
            <a:r>
              <a:rPr sz="1600" dirty="0">
                <a:solidFill>
                  <a:srgbClr val="BF0000"/>
                </a:solidFill>
                <a:latin typeface="Times New Roman"/>
                <a:cs typeface="Times New Roman"/>
              </a:rPr>
              <a:t>Presented</a:t>
            </a:r>
            <a:r>
              <a:rPr sz="1600" spc="90" dirty="0">
                <a:solidFill>
                  <a:srgbClr val="BF0000"/>
                </a:solidFill>
                <a:latin typeface="Times New Roman"/>
                <a:cs typeface="Times New Roman"/>
              </a:rPr>
              <a:t> </a:t>
            </a:r>
            <a:r>
              <a:rPr sz="1600" spc="-25" dirty="0">
                <a:solidFill>
                  <a:srgbClr val="BF0000"/>
                </a:solidFill>
                <a:latin typeface="Times New Roman"/>
                <a:cs typeface="Times New Roman"/>
              </a:rPr>
              <a:t>by, </a:t>
            </a:r>
            <a:r>
              <a:rPr sz="1600" b="1" spc="-10" dirty="0">
                <a:latin typeface="Palatino Linotype"/>
                <a:cs typeface="Palatino Linotype"/>
              </a:rPr>
              <a:t>S.KALAISELVAN(8208E23ITR052) S.RAVIKUMAR(8208E23ITR095) K.KARTHIPAN(8208E23ITR054)</a:t>
            </a:r>
            <a:endParaRPr sz="1600">
              <a:latin typeface="Palatino Linotype"/>
              <a:cs typeface="Palatino Linotype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852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E.G.S.</a:t>
            </a:r>
            <a:r>
              <a:rPr spc="-55" dirty="0"/>
              <a:t> </a:t>
            </a:r>
            <a:r>
              <a:rPr dirty="0"/>
              <a:t>Pillay</a:t>
            </a:r>
            <a:r>
              <a:rPr spc="-15" dirty="0"/>
              <a:t> </a:t>
            </a:r>
            <a:r>
              <a:rPr dirty="0"/>
              <a:t>Engineering</a:t>
            </a:r>
            <a:r>
              <a:rPr spc="-40" dirty="0"/>
              <a:t> </a:t>
            </a:r>
            <a:r>
              <a:rPr spc="-10" dirty="0"/>
              <a:t>College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865</Words>
  <Application>Microsoft Office PowerPoint</Application>
  <PresentationFormat>Custom</PresentationFormat>
  <Paragraphs>143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Calibri</vt:lpstr>
      <vt:lpstr>Cambria</vt:lpstr>
      <vt:lpstr>Palatino Linotype</vt:lpstr>
      <vt:lpstr>Times New Roman</vt:lpstr>
      <vt:lpstr>Office Theme</vt:lpstr>
      <vt:lpstr>E.G.S. Pillay Engineering College</vt:lpstr>
      <vt:lpstr>Outline of the Presentation</vt:lpstr>
      <vt:lpstr>Abstract</vt:lpstr>
      <vt:lpstr>Objective</vt:lpstr>
      <vt:lpstr>Problem statement</vt:lpstr>
      <vt:lpstr>Existing System</vt:lpstr>
      <vt:lpstr>Proposed System</vt:lpstr>
      <vt:lpstr>System Architecture</vt:lpstr>
      <vt:lpstr>Requirements</vt:lpstr>
      <vt:lpstr>Estimated Cost</vt:lpstr>
      <vt:lpstr>Literature Review</vt:lpstr>
      <vt:lpstr>References</vt:lpstr>
      <vt:lpstr>E.G.S. Pillay Engineering College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- 0th reviwe</dc:title>
  <cp:lastModifiedBy>ravikumar9629071640@gmail.com</cp:lastModifiedBy>
  <cp:revision>2</cp:revision>
  <dcterms:created xsi:type="dcterms:W3CDTF">2026-02-07T00:58:29Z</dcterms:created>
  <dcterms:modified xsi:type="dcterms:W3CDTF">2026-02-07T01:06:51Z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2026-02-06T00:00:00Z</vt:filetime>
  </property>
  <property fmtid="{D5CDD505-2E9C-101B-9397-08002B2CF9AE}" pid="3" name="LastSaved">
    <vt:filetime>2026-02-07T00:00:00Z</vt:filetime>
  </property>
  <property fmtid="{D5CDD505-2E9C-101B-9397-08002B2CF9AE}" pid="4" name="Producer">
    <vt:lpwstr>Microsoft: Print To PDF</vt:lpwstr>
  </property>
</Properties>
</file>